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2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2877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[00:00–00:20 | 20 seconds]
လုပ်ငန်းရှင်တစ်ယောက်က ပစ္စည်း ၁၀၀ ပို့လိုက်ပေမယ့် ဂိုဒေါင်စာရင်းမှာ ၉၅ ခုပဲ ပြနေတယ်ဆိုပါစို့။ ကျန်ငါးခုအတွက် ဘယ်သူ့ကိုမေးမလဲ။ ဘယ်သူက အထောက်အထားစစ်မလဲ။ ဘယ်အချိန်မှာ ပြေလည်ပြီးလို့ သိနိုင်မလဲ။ ဒါက ကျွန်တော်တို့ နမူနာဇာတ်လမ်းပါ။ ParcelCare က ဒီလိုပို့ဆောင်မှုဆိုင်ရာ ပြဿနာတွေကို ခြေရာခံနိုင်တဲ့ ဖြေရှင်းမှုအဖြစ် ဆက်ပေးဖို့ ရည်ရွယ်ထားပါတယ်။</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[00:20–00:55 | 35 seconds]
ပစ္စည်းအရေအတွက် ကွာတာတစ်ခုကို ဖြေရှင်းဖို့ လုပ်ငန်းရှင်ရဲ့မက်ဆေ့ချ်၊ ဂိုဒေါင်ရဲ့ရေတွက်စာရင်း၊ လက်ခံပြေစာနဲ့ မန်နေဂျာဆုံးဖြတ်ချက်ကို ပြန်စုရတတ်ပါတယ်။ အချက်အလက်ပြန့်ကျဲရင် စစ်ဆေးချိန်ကြာတယ်။ ဘယ်သူဆက်လုပ်ရမလဲ မသိရင် တာဝန်ရှုပ်တယ်။ ဖြေရှင်းမှုကို လုပ်ငန်းရှင်က မသိရင် ထပ်ခါထပ်ခါမေးရတယ်။ ကျွန်တော်တို့ အရင်ဦးစားပေးမယ့်သူတွေက ဒီကိစ္စကို ကိုင်တွယ်ရတဲ့ ဂိုဒေါင်ဝန်ထမ်းနဲ့ အဖြေလိုနေတဲ့ လုပ်ငန်းရှင်ပါ။ ဒီအခက်အခဲတွေရဲ့ အကြိမ်ရေနဲ့ ကုန်ကျချိန်ကို pilot မှာ တိုင်းတာမှာဖြစ်ပါတယ်။</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[00:55–01:25 | 30 seconds]
ParcelCare မှာ တိုင်ကြားချက်တစ်ခုကို အထောက်အထား၊ စစ်ဆေးမှု၊ ဆုံးဖြတ်ချက်နဲ့ အတည်ပြုမှတ်တမ်းတို့ ဆက်ထားပါတယ်။ AI ရဲ့ရည်ရွယ်ထားတဲ့အလုပ်က ရရှိထားတဲ့အချက်တွေကို အနှစ်ချုပ်ပေးဖို့၊ လိုနေတဲ့အချက်တွေကို ပြဖို့နဲ့ နောက်တစ်ဆင့်ကို အကြံပြုဖို့ပါ။ AI အကြံပြုချက်ဟာ မန်နေဂျာအတည်ပြုချက် မဟုတ်ပါဘူး။ လူကိုယ်တိုင် စစ်ဆေးရမယ့် အရေအတွက်နဲ့ ပစ္စည်းအခြေအနေကိုလည်း အစားမထိုးပါဘူး။ အခုပြမယ့် demo က ဒီလုပ်ငန်းစဉ်ကို စည်းမျဉ်းအခြေခံနဲ့ စမ်းပြထားတာ ဖြစ်ပါတယ်။</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[01:25–03:15 | 110 seconds | Play embedded edited walkthrough]
[0:00–0:20] ဒီမှာ Golden Bloom ရဲ့ WR-2001 တိုင်ကြားချက်ပါ။ IN-0081 ပြေစာကို ရည်ညွှန်းထားပြီး ပို့ထားတာ ၁၀၀၊ စာရင်းဝင်တာ ၉၅ ဖြစ်လို့ ထိခိုက်အရေအတွက် ငါးခုကို မှတ်တမ်းတင်ထားပါတယ်။ နမူနာပြေစာရည်ညွှန်းချက်သာဖြစ်ပြီး ဖိုင်ကို တကယ်ဖတ်အတည်ပြုထားတယ်လို့ မဆိုပါဘူး။
[0:20–0:50] ဂိုဒေါင်ဘက်က တူညီတဲ့ကိစ္စကို ဖွင့်ကြည့်ပါတယ်။ Priority၊ ဘယ်အဖွဲ့စစ်ရမလဲနဲ့ case status ကို ခွဲပြထားပါတယ်။ ပစ္စည်းတန်ဖိုးနဲ့ အမျိုးအစား မပြည့်စုံလို့ priority ကို ခန့်မှန်းမသတ်မှတ်ဘဲ pending လို့ ပြထားပါတယ်။
[0:50–1:15] ဒီ demo review က စည်းမျဉ်းတွေကို စစ်ပြီး လူကိုယ်တိုင်စစ်ဖို့ မန်နေဂျာဆီ ပို့ပေးပါတယ်။ ရည်ရွယ်ထားတဲ့ AI integration ကတော့ facts အနှစ်ချုပ်၊ missing information နဲ့ proposed action ကို ကူညီပေးဖို့ပါ။ ဒီနေရာမှာ သီးခြား AI နှစ်ခု run နေတယ်လို့ မဆိုပါဘူး။
[1:15–1:35] မန်နေဂျာက ၉၅ ခုလက်ခံထားတဲ့စာရင်းကို လက်ခံပြီး ငါးခုကွာဟမှုကို ဆက်လက်စစ်ဆေးရန် အဆိုပြုချက်ရေးပါတယ်။ အဲဒီစာသားကို demo proposal လို့ ရှင်းထားပြီး physical recount သို့မဟုတ် stock correction လုပ်ပြီးသလို မပြောထားပါဘူး။
[1:35–1:50] လုပ်ငန်းရှင်က အဆိုပြုချက်ကို ဖတ်ပြီး သဘောတူမှ report ကို ပိတ်နိုင်ပါတယ်။ မသဘောတူရင် ပြန်ဖွင့်နိုင်ပါတယ်။ ဒီမှာ ပြထားတာက agreement နဲ့ history ဖြစ်ပါတယ်။ ကျန်ငါးခု တကယ်ရှာတွေ့ပြီးပြီဆိုတဲ့ သက်သေ မဟုတ်ပါဘူး။</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[03:15–03:55 | 40 seconds]
ကျွန်တော်တို့ အဆိုပြုထားတဲ့ ဝင်ငွေပုံစံက ဂိုဒေါင်တစ်ခုချင်းစီအလိုက် လစဉ် subscription ပါ။ ဂိုဒေါင်က ပေးချေပြီး ချိတ်ဆက်ထားတဲ့ လုပ်ငန်းရှင်တွေက ဆက်သွယ်အတည်ပြုနိုင်မယ်။ နောက်ပိုင်း multi-warehouse၊ integrations နဲ့ onboarding support ကို တိုးချဲ့နိုင်ပါတယ်။ စျေးနှုန်းနဲ့ ဝင်ငွေကို အခုအဆင့်မှာ မအတည်ပြုရသေးပါဘူး။ တန်ဖိုးကို စစ်ဖို့ case တစ်ခုမှာ သက်သာတဲ့အချိန်၊ လစဉ် case အရေအတွက်နဲ့ ဝန်ထမ်းကုန်ကျစရိတ်ကို တိုင်းမယ်။ AI၊ hosting နဲ့ support ကုန်ကျစရိတ်တွေကိုပါ ထည့်တွက်ပြီး customer က ပေးချေချင်မချင် စစ်ပါမယ်။</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[03:55–04:35 | 40 seconds]
ပထမသုံးလမှာ ဂိုဒေါင်ဝန်ထမ်းနဲ့ လုပ်ငန်းရှင်တွေကို မေးမြန်းပြီး pilot partner ရှာမယ်၊ လက်ရှိကြာချိန်ကို တိုင်းမယ်။ လေးလကနေ ခြောက်လမှာ pilot feedback နဲ့ workflow ကို ပြင်ပြီး တုံ့ပြန်ချိန်၊ ဖြေရှင်းချိန်နဲ့ ပေးချေလိုမှုကို စစ်မယ်။ ခုနစ်လကနေ တစ်နှစ်အတွင်းမှာ အတည်ပြုထားတဲ့ value ပေါ်မူတည်ပြီး operator referrals၊ demos နဲ့ logistics partnerships ကတစ်ဆင့် တိုးချဲ့မယ်။ စာမျက်နှာဖွင့်ချိန်နဲ့ status update နောက်ကျမှုကို အရင်တိုင်းမယ်။ ဒီ roadmap ဟာ အဆိုပြုအစီအစဉ်ဖြစ်ပြီး ရရှိပြီးသား traction မဟုတ်ပါဘူး။</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[04:35–05:00 | 25 seconds]
အရင်က မက်ဆေ့ချ်တွေ ပြန့်ကျဲနေရာကနေ ကိစ္စတစ်ခုတည်း၊ အထောက်အထားတစ်စုနဲ့ တာဝန်ရှိသူ ရှင်းလာဖို့ ParcelCare ကို တည်ဆောက်ထားပါတယ်။ ရည်မှန်းချက်က မေးမြန်းလိုက်ရတဲ့အချိန်ကို လျှော့ပြီး ဖြေရှင်းမှုကို ခြေရာခံအတည်ပြုနိုင်ဖို့ပါ။ ဒီတန်ဖိုးကို လက်တွေ့တိုင်းတာဖို့ warehouse pilot partners တွေ ရှာနေပါတယ်။ ကျေးဇူးတင်ပါတယ်။</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Users/witchjenjen/Documents/ChatGPT/FSD/Team-8/public/brand/parcelcare-logo.png"/>
          <p:cNvPicPr>
            <a:picLocks noChangeAspect="1"/>
          </p:cNvPicPr>
          <p:nvPr/>
        </p:nvPicPr>
        <p:blipFill>
          <a:blip r:embed="rId3"/>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marL="0" indent="0">
              <a:buNone/>
            </a:pPr>
            <a:r>
              <a:rPr lang="en-US" sz="1100" b="1" kern="0" spc="140" dirty="0">
                <a:solidFill>
                  <a:srgbClr val="087A86"/>
                </a:solidFill>
                <a:latin typeface="Arial" pitchFamily="34" charset="0"/>
                <a:ea typeface="Arial" pitchFamily="34" charset="-122"/>
                <a:cs typeface="Arial" pitchFamily="34" charset="-120"/>
              </a:rPr>
              <a:t>THE MOMENT OF PAIN</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marL="0" indent="0">
              <a:buNone/>
            </a:pPr>
            <a:r>
              <a:rPr lang="en-US" sz="3400" b="1" dirty="0">
                <a:solidFill>
                  <a:srgbClr val="17383E"/>
                </a:solidFill>
                <a:latin typeface="Arial" pitchFamily="34" charset="0"/>
                <a:ea typeface="Arial" pitchFamily="34" charset="-122"/>
                <a:cs typeface="Arial" pitchFamily="34" charset="-120"/>
              </a:rPr>
              <a:t>100 items sent. 95 recorded.</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marL="0" indent="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marL="0" indent="0" algn="r">
              <a:buNone/>
            </a:pPr>
            <a:r>
              <a:rPr lang="en-US" sz="1000" dirty="0">
                <a:solidFill>
                  <a:srgbClr val="567077"/>
                </a:solidFill>
                <a:latin typeface="Arial" pitchFamily="34" charset="0"/>
                <a:ea typeface="Arial" pitchFamily="34" charset="-122"/>
                <a:cs typeface="Arial" pitchFamily="34" charset="-120"/>
              </a:rPr>
              <a:t>01 / 07</a:t>
            </a:r>
            <a:endParaRPr lang="en-US" sz="1000" dirty="0"/>
          </a:p>
        </p:txBody>
      </p:sp>
      <p:sp>
        <p:nvSpPr>
          <p:cNvPr id="8" name="Text 4"/>
          <p:cNvSpPr/>
          <p:nvPr/>
        </p:nvSpPr>
        <p:spPr>
          <a:xfrm>
            <a:off x="594360" y="2240280"/>
            <a:ext cx="10789920" cy="502920"/>
          </a:xfrm>
          <a:prstGeom prst="rect">
            <a:avLst/>
          </a:prstGeom>
          <a:noFill/>
          <a:ln/>
        </p:spPr>
        <p:txBody>
          <a:bodyPr wrap="square" lIns="0" tIns="0" rIns="0" bIns="0" rtlCol="0" anchor="ctr"/>
          <a:lstStyle/>
          <a:p>
            <a:pPr marL="0" indent="0">
              <a:buNone/>
            </a:pPr>
            <a:r>
              <a:rPr lang="en-US" sz="2800" b="1" dirty="0">
                <a:solidFill>
                  <a:srgbClr val="087A86"/>
                </a:solidFill>
                <a:latin typeface="Arial" pitchFamily="34" charset="0"/>
                <a:ea typeface="Arial" pitchFamily="34" charset="-122"/>
                <a:cs typeface="Arial" pitchFamily="34" charset="-120"/>
              </a:rPr>
              <a:t>Who resolves the missing five?</a:t>
            </a:r>
            <a:endParaRPr lang="en-US" sz="2800" dirty="0"/>
          </a:p>
        </p:txBody>
      </p:sp>
      <p:sp>
        <p:nvSpPr>
          <p:cNvPr id="9" name="Shape 5"/>
          <p:cNvSpPr/>
          <p:nvPr/>
        </p:nvSpPr>
        <p:spPr>
          <a:xfrm>
            <a:off x="594360" y="3154680"/>
            <a:ext cx="3291840" cy="1920240"/>
          </a:xfrm>
          <a:prstGeom prst="roundRect">
            <a:avLst>
              <a:gd name="adj" fmla="val 5714"/>
            </a:avLst>
          </a:prstGeom>
          <a:solidFill>
            <a:srgbClr val="EAF9FA"/>
          </a:solidFill>
          <a:ln w="10160">
            <a:solidFill>
              <a:srgbClr val="EAF9FA"/>
            </a:solidFill>
            <a:prstDash val="solid"/>
          </a:ln>
        </p:spPr>
      </p:sp>
      <p:sp>
        <p:nvSpPr>
          <p:cNvPr id="10" name="Text 6"/>
          <p:cNvSpPr/>
          <p:nvPr/>
        </p:nvSpPr>
        <p:spPr>
          <a:xfrm>
            <a:off x="868680" y="3346704"/>
            <a:ext cx="2743200" cy="932688"/>
          </a:xfrm>
          <a:prstGeom prst="rect">
            <a:avLst/>
          </a:prstGeom>
          <a:noFill/>
          <a:ln/>
        </p:spPr>
        <p:txBody>
          <a:bodyPr wrap="square" lIns="0" tIns="0" rIns="0" bIns="0" rtlCol="0" anchor="ctr"/>
          <a:lstStyle/>
          <a:p>
            <a:pPr marL="0" indent="0">
              <a:buNone/>
            </a:pPr>
            <a:r>
              <a:rPr lang="en-US" sz="7000" b="1" dirty="0">
                <a:solidFill>
                  <a:srgbClr val="087A86"/>
                </a:solidFill>
                <a:latin typeface="Arial" pitchFamily="34" charset="0"/>
                <a:ea typeface="Arial" pitchFamily="34" charset="-122"/>
                <a:cs typeface="Arial" pitchFamily="34" charset="-120"/>
              </a:rPr>
              <a:t>100</a:t>
            </a:r>
            <a:endParaRPr lang="en-US" sz="7000" dirty="0"/>
          </a:p>
        </p:txBody>
      </p:sp>
      <p:sp>
        <p:nvSpPr>
          <p:cNvPr id="11" name="Text 7"/>
          <p:cNvSpPr/>
          <p:nvPr/>
        </p:nvSpPr>
        <p:spPr>
          <a:xfrm>
            <a:off x="868680" y="4498848"/>
            <a:ext cx="2743200" cy="228600"/>
          </a:xfrm>
          <a:prstGeom prst="rect">
            <a:avLst/>
          </a:prstGeom>
          <a:noFill/>
          <a:ln/>
        </p:spPr>
        <p:txBody>
          <a:bodyPr wrap="square" lIns="0" tIns="0" rIns="0" bIns="0" rtlCol="0" anchor="ctr"/>
          <a:lstStyle/>
          <a:p>
            <a:pPr marL="0" indent="0">
              <a:buNone/>
            </a:pPr>
            <a:r>
              <a:rPr lang="en-US" sz="1200" b="1" dirty="0">
                <a:solidFill>
                  <a:srgbClr val="567077"/>
                </a:solidFill>
                <a:latin typeface="Arial" pitchFamily="34" charset="0"/>
                <a:ea typeface="Arial" pitchFamily="34" charset="-122"/>
                <a:cs typeface="Arial" pitchFamily="34" charset="-120"/>
              </a:rPr>
              <a:t>ITEMS SENT</a:t>
            </a:r>
            <a:endParaRPr lang="en-US" sz="1200" dirty="0"/>
          </a:p>
        </p:txBody>
      </p:sp>
      <p:sp>
        <p:nvSpPr>
          <p:cNvPr id="12" name="Text 8"/>
          <p:cNvSpPr/>
          <p:nvPr/>
        </p:nvSpPr>
        <p:spPr>
          <a:xfrm>
            <a:off x="3931920" y="3785616"/>
            <a:ext cx="457200" cy="365760"/>
          </a:xfrm>
          <a:prstGeom prst="rect">
            <a:avLst/>
          </a:prstGeom>
          <a:noFill/>
          <a:ln/>
        </p:spPr>
        <p:txBody>
          <a:bodyPr wrap="square" lIns="0" tIns="0" rIns="0" bIns="0" rtlCol="0" anchor="ctr"/>
          <a:lstStyle/>
          <a:p>
            <a:pPr marL="0" indent="0" algn="ctr">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3" name="Shape 9"/>
          <p:cNvSpPr/>
          <p:nvPr/>
        </p:nvSpPr>
        <p:spPr>
          <a:xfrm>
            <a:off x="4434840" y="3154680"/>
            <a:ext cx="3291840" cy="1920240"/>
          </a:xfrm>
          <a:prstGeom prst="roundRect">
            <a:avLst>
              <a:gd name="adj" fmla="val 5714"/>
            </a:avLst>
          </a:prstGeom>
          <a:solidFill>
            <a:srgbClr val="EAF9FA"/>
          </a:solidFill>
          <a:ln w="10160">
            <a:solidFill>
              <a:srgbClr val="EAF9FA"/>
            </a:solidFill>
            <a:prstDash val="solid"/>
          </a:ln>
        </p:spPr>
      </p:sp>
      <p:sp>
        <p:nvSpPr>
          <p:cNvPr id="14" name="Text 10"/>
          <p:cNvSpPr/>
          <p:nvPr/>
        </p:nvSpPr>
        <p:spPr>
          <a:xfrm>
            <a:off x="4709160" y="3346704"/>
            <a:ext cx="2743200" cy="932688"/>
          </a:xfrm>
          <a:prstGeom prst="rect">
            <a:avLst/>
          </a:prstGeom>
          <a:noFill/>
          <a:ln/>
        </p:spPr>
        <p:txBody>
          <a:bodyPr wrap="square" lIns="0" tIns="0" rIns="0" bIns="0" rtlCol="0" anchor="ctr"/>
          <a:lstStyle/>
          <a:p>
            <a:pPr marL="0" indent="0">
              <a:buNone/>
            </a:pPr>
            <a:r>
              <a:rPr lang="en-US" sz="7000" b="1" dirty="0">
                <a:solidFill>
                  <a:srgbClr val="087A86"/>
                </a:solidFill>
                <a:latin typeface="Arial" pitchFamily="34" charset="0"/>
                <a:ea typeface="Arial" pitchFamily="34" charset="-122"/>
                <a:cs typeface="Arial" pitchFamily="34" charset="-120"/>
              </a:rPr>
              <a:t>95</a:t>
            </a:r>
            <a:endParaRPr lang="en-US" sz="7000" dirty="0"/>
          </a:p>
        </p:txBody>
      </p:sp>
      <p:sp>
        <p:nvSpPr>
          <p:cNvPr id="15" name="Text 11"/>
          <p:cNvSpPr/>
          <p:nvPr/>
        </p:nvSpPr>
        <p:spPr>
          <a:xfrm>
            <a:off x="4709160" y="4498848"/>
            <a:ext cx="2743200" cy="228600"/>
          </a:xfrm>
          <a:prstGeom prst="rect">
            <a:avLst/>
          </a:prstGeom>
          <a:noFill/>
          <a:ln/>
        </p:spPr>
        <p:txBody>
          <a:bodyPr wrap="square" lIns="0" tIns="0" rIns="0" bIns="0" rtlCol="0" anchor="ctr"/>
          <a:lstStyle/>
          <a:p>
            <a:pPr marL="0" indent="0">
              <a:buNone/>
            </a:pPr>
            <a:r>
              <a:rPr lang="en-US" sz="1200" b="1" dirty="0">
                <a:solidFill>
                  <a:srgbClr val="567077"/>
                </a:solidFill>
                <a:latin typeface="Arial" pitchFamily="34" charset="0"/>
                <a:ea typeface="Arial" pitchFamily="34" charset="-122"/>
                <a:cs typeface="Arial" pitchFamily="34" charset="-120"/>
              </a:rPr>
              <a:t>ITEMS RECORDED</a:t>
            </a:r>
            <a:endParaRPr lang="en-US" sz="1200" dirty="0"/>
          </a:p>
        </p:txBody>
      </p:sp>
      <p:sp>
        <p:nvSpPr>
          <p:cNvPr id="16" name="Text 12"/>
          <p:cNvSpPr/>
          <p:nvPr/>
        </p:nvSpPr>
        <p:spPr>
          <a:xfrm>
            <a:off x="7772400" y="3785616"/>
            <a:ext cx="457200" cy="365760"/>
          </a:xfrm>
          <a:prstGeom prst="rect">
            <a:avLst/>
          </a:prstGeom>
          <a:noFill/>
          <a:ln/>
        </p:spPr>
        <p:txBody>
          <a:bodyPr wrap="square" lIns="0" tIns="0" rIns="0" bIns="0" rtlCol="0" anchor="ctr"/>
          <a:lstStyle/>
          <a:p>
            <a:pPr marL="0" indent="0" algn="ctr">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7" name="Shape 13"/>
          <p:cNvSpPr/>
          <p:nvPr/>
        </p:nvSpPr>
        <p:spPr>
          <a:xfrm>
            <a:off x="8275320" y="3154680"/>
            <a:ext cx="3291840" cy="1920240"/>
          </a:xfrm>
          <a:prstGeom prst="roundRect">
            <a:avLst>
              <a:gd name="adj" fmla="val 5714"/>
            </a:avLst>
          </a:prstGeom>
          <a:solidFill>
            <a:srgbClr val="FFF5D7"/>
          </a:solidFill>
          <a:ln w="10160">
            <a:solidFill>
              <a:srgbClr val="FFF5D7"/>
            </a:solidFill>
            <a:prstDash val="solid"/>
          </a:ln>
        </p:spPr>
      </p:sp>
      <p:sp>
        <p:nvSpPr>
          <p:cNvPr id="18" name="Text 14"/>
          <p:cNvSpPr/>
          <p:nvPr/>
        </p:nvSpPr>
        <p:spPr>
          <a:xfrm>
            <a:off x="8549640" y="3346704"/>
            <a:ext cx="2743200" cy="932688"/>
          </a:xfrm>
          <a:prstGeom prst="rect">
            <a:avLst/>
          </a:prstGeom>
          <a:noFill/>
          <a:ln/>
        </p:spPr>
        <p:txBody>
          <a:bodyPr wrap="square" lIns="0" tIns="0" rIns="0" bIns="0" rtlCol="0" anchor="ctr"/>
          <a:lstStyle/>
          <a:p>
            <a:pPr marL="0" indent="0">
              <a:buNone/>
            </a:pPr>
            <a:r>
              <a:rPr lang="en-US" sz="7000" b="1" dirty="0">
                <a:solidFill>
                  <a:srgbClr val="17383E"/>
                </a:solidFill>
                <a:latin typeface="Arial" pitchFamily="34" charset="0"/>
                <a:ea typeface="Arial" pitchFamily="34" charset="-122"/>
                <a:cs typeface="Arial" pitchFamily="34" charset="-120"/>
              </a:rPr>
              <a:t>?</a:t>
            </a:r>
            <a:endParaRPr lang="en-US" sz="7000" dirty="0"/>
          </a:p>
        </p:txBody>
      </p:sp>
      <p:sp>
        <p:nvSpPr>
          <p:cNvPr id="19" name="Text 15"/>
          <p:cNvSpPr/>
          <p:nvPr/>
        </p:nvSpPr>
        <p:spPr>
          <a:xfrm>
            <a:off x="8549640" y="4498848"/>
            <a:ext cx="2743200" cy="228600"/>
          </a:xfrm>
          <a:prstGeom prst="rect">
            <a:avLst/>
          </a:prstGeom>
          <a:noFill/>
          <a:ln/>
        </p:spPr>
        <p:txBody>
          <a:bodyPr wrap="square" lIns="0" tIns="0" rIns="0" bIns="0" rtlCol="0" anchor="ctr"/>
          <a:lstStyle/>
          <a:p>
            <a:pPr marL="0" indent="0">
              <a:buNone/>
            </a:pPr>
            <a:r>
              <a:rPr lang="en-US" sz="1200" b="1" dirty="0">
                <a:solidFill>
                  <a:srgbClr val="567077"/>
                </a:solidFill>
                <a:latin typeface="Arial" pitchFamily="34" charset="0"/>
                <a:ea typeface="Arial" pitchFamily="34" charset="-122"/>
                <a:cs typeface="Arial" pitchFamily="34" charset="-120"/>
              </a:rPr>
              <a:t>UNRESOLVED GAP</a:t>
            </a:r>
            <a:endParaRPr lang="en-US" sz="1200" dirty="0"/>
          </a:p>
        </p:txBody>
      </p:sp>
      <p:sp>
        <p:nvSpPr>
          <p:cNvPr id="20" name="Text 16"/>
          <p:cNvSpPr/>
          <p:nvPr/>
        </p:nvSpPr>
        <p:spPr>
          <a:xfrm>
            <a:off x="594360" y="5559552"/>
            <a:ext cx="9144000" cy="548640"/>
          </a:xfrm>
          <a:prstGeom prst="rect">
            <a:avLst/>
          </a:prstGeom>
          <a:noFill/>
          <a:ln/>
        </p:spPr>
        <p:txBody>
          <a:bodyPr wrap="square" lIns="0" tIns="0" rIns="0" bIns="0" rtlCol="0" anchor="ctr"/>
          <a:lstStyle/>
          <a:p>
            <a:pPr marL="0" indent="0">
              <a:buNone/>
            </a:pPr>
            <a:r>
              <a:rPr lang="en-US" sz="1400" dirty="0">
                <a:solidFill>
                  <a:srgbClr val="567077"/>
                </a:solidFill>
                <a:latin typeface="Arial" pitchFamily="34" charset="0"/>
                <a:ea typeface="Arial" pitchFamily="34" charset="-122"/>
                <a:cs typeface="Arial" pitchFamily="34" charset="-120"/>
              </a:rPr>
              <a:t>From shipment problems to verified resolutions.</a:t>
            </a:r>
            <a:endParaRPr lang="en-US" sz="1400" dirty="0"/>
          </a:p>
        </p:txBody>
      </p:sp>
      <p:sp>
        <p:nvSpPr>
          <p:cNvPr id="21" name="Text 17"/>
          <p:cNvSpPr/>
          <p:nvPr/>
        </p:nvSpPr>
        <p:spPr>
          <a:xfrm>
            <a:off x="594360" y="6053328"/>
            <a:ext cx="10058400" cy="182880"/>
          </a:xfrm>
          <a:prstGeom prst="rect">
            <a:avLst/>
          </a:prstGeom>
          <a:noFill/>
          <a:ln/>
        </p:spPr>
        <p:txBody>
          <a:bodyPr wrap="square" lIns="0" tIns="0" rIns="0" bIns="0" rtlCol="0" anchor="ctr"/>
          <a:lstStyle/>
          <a:p>
            <a:pPr marL="0" indent="0">
              <a:buNone/>
            </a:pPr>
            <a:r>
              <a:rPr lang="en-US" sz="1100" dirty="0">
                <a:solidFill>
                  <a:srgbClr val="567077"/>
                </a:solidFill>
                <a:latin typeface="Arial" pitchFamily="34" charset="0"/>
                <a:ea typeface="Arial" pitchFamily="34" charset="-122"/>
                <a:cs typeface="Arial" pitchFamily="34" charset="-120"/>
              </a:rPr>
              <a:t>Illustrative scenario · not a customer testimonial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Users/witchjenjen/Documents/ChatGPT/FSD/Team-8/public/brand/parcelcare-logo.png"/>
          <p:cNvPicPr>
            <a:picLocks noChangeAspect="1"/>
          </p:cNvPicPr>
          <p:nvPr/>
        </p:nvPicPr>
        <p:blipFill>
          <a:blip r:embed="rId3"/>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marL="0" indent="0">
              <a:buNone/>
            </a:pPr>
            <a:r>
              <a:rPr lang="en-US" sz="1100" b="1" kern="0" spc="140" dirty="0">
                <a:solidFill>
                  <a:srgbClr val="087A86"/>
                </a:solidFill>
                <a:latin typeface="Arial" pitchFamily="34" charset="0"/>
                <a:ea typeface="Arial" pitchFamily="34" charset="-122"/>
                <a:cs typeface="Arial" pitchFamily="34" charset="-120"/>
              </a:rPr>
              <a:t>PROBLEM</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marL="0" indent="0">
              <a:buNone/>
            </a:pPr>
            <a:r>
              <a:rPr lang="en-US" sz="3400" b="1" dirty="0">
                <a:solidFill>
                  <a:srgbClr val="17383E"/>
                </a:solidFill>
                <a:latin typeface="Arial" pitchFamily="34" charset="0"/>
                <a:ea typeface="Arial" pitchFamily="34" charset="-122"/>
                <a:cs typeface="Arial" pitchFamily="34" charset="-120"/>
              </a:rPr>
              <a:t>One exception. Multiple</a:t>
            </a:r>
            <a:endParaRPr lang="en-US" sz="3400" dirty="0"/>
          </a:p>
          <a:p>
            <a:pPr marL="0" indent="0">
              <a:buNone/>
            </a:pPr>
            <a:r>
              <a:rPr lang="en-US" sz="3400" b="1" dirty="0">
                <a:solidFill>
                  <a:srgbClr val="17383E"/>
                </a:solidFill>
                <a:latin typeface="Arial" pitchFamily="34" charset="0"/>
                <a:ea typeface="Arial" pitchFamily="34" charset="-122"/>
                <a:cs typeface="Arial" pitchFamily="34" charset="-120"/>
              </a:rPr>
              <a:t>disconnected conversations.</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marL="0" indent="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marL="0" indent="0" algn="r">
              <a:buNone/>
            </a:pPr>
            <a:r>
              <a:rPr lang="en-US" sz="1000" dirty="0">
                <a:solidFill>
                  <a:srgbClr val="567077"/>
                </a:solidFill>
                <a:latin typeface="Arial" pitchFamily="34" charset="0"/>
                <a:ea typeface="Arial" pitchFamily="34" charset="-122"/>
                <a:cs typeface="Arial" pitchFamily="34" charset="-120"/>
              </a:rPr>
              <a:t>02 / 07</a:t>
            </a:r>
            <a:endParaRPr lang="en-US" sz="1000" dirty="0"/>
          </a:p>
        </p:txBody>
      </p:sp>
      <p:sp>
        <p:nvSpPr>
          <p:cNvPr id="8" name="Shape 4"/>
          <p:cNvSpPr/>
          <p:nvPr/>
        </p:nvSpPr>
        <p:spPr>
          <a:xfrm>
            <a:off x="594360" y="2761488"/>
            <a:ext cx="2496312" cy="822960"/>
          </a:xfrm>
          <a:prstGeom prst="roundRect">
            <a:avLst>
              <a:gd name="adj" fmla="val 13333"/>
            </a:avLst>
          </a:prstGeom>
          <a:solidFill>
            <a:srgbClr val="F5F8F9"/>
          </a:solidFill>
          <a:ln w="10160">
            <a:solidFill>
              <a:srgbClr val="F5F8F9"/>
            </a:solidFill>
            <a:prstDash val="solid"/>
          </a:ln>
        </p:spPr>
      </p:sp>
      <p:sp>
        <p:nvSpPr>
          <p:cNvPr id="9" name="Text 5"/>
          <p:cNvSpPr/>
          <p:nvPr/>
        </p:nvSpPr>
        <p:spPr>
          <a:xfrm>
            <a:off x="758952" y="2999232"/>
            <a:ext cx="2167128" cy="274320"/>
          </a:xfrm>
          <a:prstGeom prst="rect">
            <a:avLst/>
          </a:prstGeom>
          <a:noFill/>
          <a:ln/>
        </p:spPr>
        <p:txBody>
          <a:bodyPr wrap="square" lIns="0" tIns="0" rIns="0" bIns="0" rtlCol="0" anchor="ctr"/>
          <a:lstStyle/>
          <a:p>
            <a:pPr marL="0" indent="0">
              <a:buNone/>
            </a:pPr>
            <a:r>
              <a:rPr lang="en-US" sz="1800" b="1" dirty="0">
                <a:solidFill>
                  <a:srgbClr val="17383E"/>
                </a:solidFill>
                <a:latin typeface="Arial" pitchFamily="34" charset="0"/>
                <a:ea typeface="Arial" pitchFamily="34" charset="-122"/>
                <a:cs typeface="Arial" pitchFamily="34" charset="-120"/>
              </a:rPr>
              <a:t>SME message</a:t>
            </a:r>
            <a:endParaRPr lang="en-US" sz="1800" dirty="0"/>
          </a:p>
        </p:txBody>
      </p:sp>
      <p:sp>
        <p:nvSpPr>
          <p:cNvPr id="10" name="Text 6"/>
          <p:cNvSpPr/>
          <p:nvPr/>
        </p:nvSpPr>
        <p:spPr>
          <a:xfrm>
            <a:off x="3127248" y="2980944"/>
            <a:ext cx="329184" cy="365760"/>
          </a:xfrm>
          <a:prstGeom prst="rect">
            <a:avLst/>
          </a:prstGeom>
          <a:noFill/>
          <a:ln/>
        </p:spPr>
        <p:txBody>
          <a:bodyPr wrap="square" lIns="0" tIns="0" rIns="0" bIns="0" rtlCol="0" anchor="ctr"/>
          <a:lstStyle/>
          <a:p>
            <a:pPr marL="0" indent="0" algn="ctr">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1" name="Shape 7"/>
          <p:cNvSpPr/>
          <p:nvPr/>
        </p:nvSpPr>
        <p:spPr>
          <a:xfrm>
            <a:off x="3493008" y="2761488"/>
            <a:ext cx="2496312" cy="822960"/>
          </a:xfrm>
          <a:prstGeom prst="roundRect">
            <a:avLst>
              <a:gd name="adj" fmla="val 13333"/>
            </a:avLst>
          </a:prstGeom>
          <a:solidFill>
            <a:srgbClr val="F5F8F9"/>
          </a:solidFill>
          <a:ln w="10160">
            <a:solidFill>
              <a:srgbClr val="F5F8F9"/>
            </a:solidFill>
            <a:prstDash val="solid"/>
          </a:ln>
        </p:spPr>
      </p:sp>
      <p:sp>
        <p:nvSpPr>
          <p:cNvPr id="12" name="Text 8"/>
          <p:cNvSpPr/>
          <p:nvPr/>
        </p:nvSpPr>
        <p:spPr>
          <a:xfrm>
            <a:off x="3657600" y="2999232"/>
            <a:ext cx="2167128" cy="274320"/>
          </a:xfrm>
          <a:prstGeom prst="rect">
            <a:avLst/>
          </a:prstGeom>
          <a:noFill/>
          <a:ln/>
        </p:spPr>
        <p:txBody>
          <a:bodyPr wrap="square" lIns="0" tIns="0" rIns="0" bIns="0" rtlCol="0" anchor="ctr"/>
          <a:lstStyle/>
          <a:p>
            <a:pPr marL="0" indent="0">
              <a:buNone/>
            </a:pPr>
            <a:r>
              <a:rPr lang="en-US" sz="1800" b="1" dirty="0">
                <a:solidFill>
                  <a:srgbClr val="17383E"/>
                </a:solidFill>
                <a:latin typeface="Arial" pitchFamily="34" charset="0"/>
                <a:ea typeface="Arial" pitchFamily="34" charset="-122"/>
                <a:cs typeface="Arial" pitchFamily="34" charset="-120"/>
              </a:rPr>
              <a:t>Warehouse count</a:t>
            </a:r>
            <a:endParaRPr lang="en-US" sz="1800" dirty="0"/>
          </a:p>
        </p:txBody>
      </p:sp>
      <p:sp>
        <p:nvSpPr>
          <p:cNvPr id="13" name="Text 9"/>
          <p:cNvSpPr/>
          <p:nvPr/>
        </p:nvSpPr>
        <p:spPr>
          <a:xfrm>
            <a:off x="6025896" y="2980944"/>
            <a:ext cx="329184" cy="365760"/>
          </a:xfrm>
          <a:prstGeom prst="rect">
            <a:avLst/>
          </a:prstGeom>
          <a:noFill/>
          <a:ln/>
        </p:spPr>
        <p:txBody>
          <a:bodyPr wrap="square" lIns="0" tIns="0" rIns="0" bIns="0" rtlCol="0" anchor="ctr"/>
          <a:lstStyle/>
          <a:p>
            <a:pPr marL="0" indent="0" algn="ctr">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4" name="Shape 10"/>
          <p:cNvSpPr/>
          <p:nvPr/>
        </p:nvSpPr>
        <p:spPr>
          <a:xfrm>
            <a:off x="6391656" y="2761488"/>
            <a:ext cx="2496312" cy="822960"/>
          </a:xfrm>
          <a:prstGeom prst="roundRect">
            <a:avLst>
              <a:gd name="adj" fmla="val 13333"/>
            </a:avLst>
          </a:prstGeom>
          <a:solidFill>
            <a:srgbClr val="F5F8F9"/>
          </a:solidFill>
          <a:ln w="10160">
            <a:solidFill>
              <a:srgbClr val="F5F8F9"/>
            </a:solidFill>
            <a:prstDash val="solid"/>
          </a:ln>
        </p:spPr>
      </p:sp>
      <p:sp>
        <p:nvSpPr>
          <p:cNvPr id="15" name="Text 11"/>
          <p:cNvSpPr/>
          <p:nvPr/>
        </p:nvSpPr>
        <p:spPr>
          <a:xfrm>
            <a:off x="6556248" y="2999232"/>
            <a:ext cx="2167128" cy="274320"/>
          </a:xfrm>
          <a:prstGeom prst="rect">
            <a:avLst/>
          </a:prstGeom>
          <a:noFill/>
          <a:ln/>
        </p:spPr>
        <p:txBody>
          <a:bodyPr wrap="square" lIns="0" tIns="0" rIns="0" bIns="0" rtlCol="0" anchor="ctr"/>
          <a:lstStyle/>
          <a:p>
            <a:pPr marL="0" indent="0">
              <a:buNone/>
            </a:pPr>
            <a:r>
              <a:rPr lang="en-US" sz="1800" b="1" dirty="0">
                <a:solidFill>
                  <a:srgbClr val="17383E"/>
                </a:solidFill>
                <a:latin typeface="Arial" pitchFamily="34" charset="0"/>
                <a:ea typeface="Arial" pitchFamily="34" charset="-122"/>
                <a:cs typeface="Arial" pitchFamily="34" charset="-120"/>
              </a:rPr>
              <a:t>Receipt / photo</a:t>
            </a:r>
            <a:endParaRPr lang="en-US" sz="1800" dirty="0"/>
          </a:p>
        </p:txBody>
      </p:sp>
      <p:sp>
        <p:nvSpPr>
          <p:cNvPr id="16" name="Text 12"/>
          <p:cNvSpPr/>
          <p:nvPr/>
        </p:nvSpPr>
        <p:spPr>
          <a:xfrm>
            <a:off x="8924544" y="2980944"/>
            <a:ext cx="329184" cy="365760"/>
          </a:xfrm>
          <a:prstGeom prst="rect">
            <a:avLst/>
          </a:prstGeom>
          <a:noFill/>
          <a:ln/>
        </p:spPr>
        <p:txBody>
          <a:bodyPr wrap="square" lIns="0" tIns="0" rIns="0" bIns="0" rtlCol="0" anchor="ctr"/>
          <a:lstStyle/>
          <a:p>
            <a:pPr marL="0" indent="0" algn="ctr">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7" name="Shape 13"/>
          <p:cNvSpPr/>
          <p:nvPr/>
        </p:nvSpPr>
        <p:spPr>
          <a:xfrm>
            <a:off x="9290304" y="2761488"/>
            <a:ext cx="2496312" cy="822960"/>
          </a:xfrm>
          <a:prstGeom prst="roundRect">
            <a:avLst>
              <a:gd name="adj" fmla="val 13333"/>
            </a:avLst>
          </a:prstGeom>
          <a:solidFill>
            <a:srgbClr val="F5F8F9"/>
          </a:solidFill>
          <a:ln w="10160">
            <a:solidFill>
              <a:srgbClr val="F5F8F9"/>
            </a:solidFill>
            <a:prstDash val="solid"/>
          </a:ln>
        </p:spPr>
      </p:sp>
      <p:sp>
        <p:nvSpPr>
          <p:cNvPr id="18" name="Text 14"/>
          <p:cNvSpPr/>
          <p:nvPr/>
        </p:nvSpPr>
        <p:spPr>
          <a:xfrm>
            <a:off x="9454896" y="2999232"/>
            <a:ext cx="2167128" cy="274320"/>
          </a:xfrm>
          <a:prstGeom prst="rect">
            <a:avLst/>
          </a:prstGeom>
          <a:noFill/>
          <a:ln/>
        </p:spPr>
        <p:txBody>
          <a:bodyPr wrap="square" lIns="0" tIns="0" rIns="0" bIns="0" rtlCol="0" anchor="ctr"/>
          <a:lstStyle/>
          <a:p>
            <a:pPr marL="0" indent="0">
              <a:buNone/>
            </a:pPr>
            <a:r>
              <a:rPr lang="en-US" sz="1800" b="1" dirty="0">
                <a:solidFill>
                  <a:srgbClr val="17383E"/>
                </a:solidFill>
                <a:latin typeface="Arial" pitchFamily="34" charset="0"/>
                <a:ea typeface="Arial" pitchFamily="34" charset="-122"/>
                <a:cs typeface="Arial" pitchFamily="34" charset="-120"/>
              </a:rPr>
              <a:t>Manager decision</a:t>
            </a:r>
            <a:endParaRPr lang="en-US" sz="1800" dirty="0"/>
          </a:p>
        </p:txBody>
      </p:sp>
      <p:sp>
        <p:nvSpPr>
          <p:cNvPr id="19" name="Text 15"/>
          <p:cNvSpPr/>
          <p:nvPr/>
        </p:nvSpPr>
        <p:spPr>
          <a:xfrm>
            <a:off x="594360" y="4114800"/>
            <a:ext cx="914400" cy="411480"/>
          </a:xfrm>
          <a:prstGeom prst="rect">
            <a:avLst/>
          </a:prstGeom>
          <a:noFill/>
          <a:ln/>
        </p:spPr>
        <p:txBody>
          <a:bodyPr wrap="square" lIns="0" tIns="0" rIns="0" bIns="0" rtlCol="0" anchor="ctr"/>
          <a:lstStyle/>
          <a:p>
            <a:pPr marL="0" indent="0">
              <a:buNone/>
            </a:pPr>
            <a:r>
              <a:rPr lang="en-US" sz="2500" b="1" dirty="0">
                <a:solidFill>
                  <a:srgbClr val="087A86"/>
                </a:solidFill>
                <a:latin typeface="Arial" pitchFamily="34" charset="0"/>
                <a:ea typeface="Arial" pitchFamily="34" charset="-122"/>
                <a:cs typeface="Arial" pitchFamily="34" charset="-120"/>
              </a:rPr>
              <a:t>01</a:t>
            </a:r>
            <a:endParaRPr lang="en-US" sz="2500" dirty="0"/>
          </a:p>
        </p:txBody>
      </p:sp>
      <p:sp>
        <p:nvSpPr>
          <p:cNvPr id="20" name="Text 16"/>
          <p:cNvSpPr/>
          <p:nvPr/>
        </p:nvSpPr>
        <p:spPr>
          <a:xfrm>
            <a:off x="594360" y="4709160"/>
            <a:ext cx="3474720" cy="365760"/>
          </a:xfrm>
          <a:prstGeom prst="rect">
            <a:avLst/>
          </a:prstGeom>
          <a:noFill/>
          <a:ln/>
        </p:spPr>
        <p:txBody>
          <a:bodyPr wrap="square" lIns="0" tIns="0" rIns="0" bIns="0" rtlCol="0" anchor="ctr"/>
          <a:lstStyle/>
          <a:p>
            <a:pPr marL="0" indent="0">
              <a:buNone/>
            </a:pPr>
            <a:r>
              <a:rPr lang="en-US" sz="2300" b="1" dirty="0">
                <a:solidFill>
                  <a:srgbClr val="17383E"/>
                </a:solidFill>
                <a:latin typeface="Arial" pitchFamily="34" charset="0"/>
                <a:ea typeface="Arial" pitchFamily="34" charset="-122"/>
                <a:cs typeface="Arial" pitchFamily="34" charset="-120"/>
              </a:rPr>
              <a:t>Slow investigation</a:t>
            </a:r>
            <a:endParaRPr lang="en-US" sz="2300" dirty="0"/>
          </a:p>
        </p:txBody>
      </p:sp>
      <p:sp>
        <p:nvSpPr>
          <p:cNvPr id="21" name="Text 17"/>
          <p:cNvSpPr/>
          <p:nvPr/>
        </p:nvSpPr>
        <p:spPr>
          <a:xfrm>
            <a:off x="594360" y="5285232"/>
            <a:ext cx="3337560" cy="548640"/>
          </a:xfrm>
          <a:prstGeom prst="rect">
            <a:avLst/>
          </a:prstGeom>
          <a:noFill/>
          <a:ln/>
        </p:spPr>
        <p:txBody>
          <a:bodyPr wrap="square" lIns="0" tIns="0" rIns="0" bIns="0" rtlCol="0" anchor="ctr"/>
          <a:lstStyle/>
          <a:p>
            <a:pPr marL="0" indent="0">
              <a:buNone/>
            </a:pPr>
            <a:r>
              <a:rPr lang="en-US" sz="1400" dirty="0">
                <a:solidFill>
                  <a:srgbClr val="567077"/>
                </a:solidFill>
                <a:latin typeface="Arial" pitchFamily="34" charset="0"/>
                <a:ea typeface="Arial" pitchFamily="34" charset="-122"/>
                <a:cs typeface="Arial" pitchFamily="34" charset="-120"/>
              </a:rPr>
              <a:t>Evidence is scattered.</a:t>
            </a:r>
            <a:endParaRPr lang="en-US" sz="1400" dirty="0"/>
          </a:p>
        </p:txBody>
      </p:sp>
      <p:sp>
        <p:nvSpPr>
          <p:cNvPr id="22" name="Text 18"/>
          <p:cNvSpPr/>
          <p:nvPr/>
        </p:nvSpPr>
        <p:spPr>
          <a:xfrm>
            <a:off x="4434840" y="4114800"/>
            <a:ext cx="914400" cy="411480"/>
          </a:xfrm>
          <a:prstGeom prst="rect">
            <a:avLst/>
          </a:prstGeom>
          <a:noFill/>
          <a:ln/>
        </p:spPr>
        <p:txBody>
          <a:bodyPr wrap="square" lIns="0" tIns="0" rIns="0" bIns="0" rtlCol="0" anchor="ctr"/>
          <a:lstStyle/>
          <a:p>
            <a:pPr marL="0" indent="0">
              <a:buNone/>
            </a:pPr>
            <a:r>
              <a:rPr lang="en-US" sz="2500" b="1" dirty="0">
                <a:solidFill>
                  <a:srgbClr val="087A86"/>
                </a:solidFill>
                <a:latin typeface="Arial" pitchFamily="34" charset="0"/>
                <a:ea typeface="Arial" pitchFamily="34" charset="-122"/>
                <a:cs typeface="Arial" pitchFamily="34" charset="-120"/>
              </a:rPr>
              <a:t>02</a:t>
            </a:r>
            <a:endParaRPr lang="en-US" sz="2500" dirty="0"/>
          </a:p>
        </p:txBody>
      </p:sp>
      <p:sp>
        <p:nvSpPr>
          <p:cNvPr id="23" name="Text 19"/>
          <p:cNvSpPr/>
          <p:nvPr/>
        </p:nvSpPr>
        <p:spPr>
          <a:xfrm>
            <a:off x="4434840" y="4709160"/>
            <a:ext cx="3474720" cy="365760"/>
          </a:xfrm>
          <a:prstGeom prst="rect">
            <a:avLst/>
          </a:prstGeom>
          <a:noFill/>
          <a:ln/>
        </p:spPr>
        <p:txBody>
          <a:bodyPr wrap="square" lIns="0" tIns="0" rIns="0" bIns="0" rtlCol="0" anchor="ctr"/>
          <a:lstStyle/>
          <a:p>
            <a:pPr marL="0" indent="0">
              <a:buNone/>
            </a:pPr>
            <a:r>
              <a:rPr lang="en-US" sz="2300" b="1" dirty="0">
                <a:solidFill>
                  <a:srgbClr val="17383E"/>
                </a:solidFill>
                <a:latin typeface="Arial" pitchFamily="34" charset="0"/>
                <a:ea typeface="Arial" pitchFamily="34" charset="-122"/>
                <a:cs typeface="Arial" pitchFamily="34" charset="-120"/>
              </a:rPr>
              <a:t>Unclear ownership</a:t>
            </a:r>
            <a:endParaRPr lang="en-US" sz="2300" dirty="0"/>
          </a:p>
        </p:txBody>
      </p:sp>
      <p:sp>
        <p:nvSpPr>
          <p:cNvPr id="24" name="Text 20"/>
          <p:cNvSpPr/>
          <p:nvPr/>
        </p:nvSpPr>
        <p:spPr>
          <a:xfrm>
            <a:off x="4434840" y="5285232"/>
            <a:ext cx="3337560" cy="548640"/>
          </a:xfrm>
          <a:prstGeom prst="rect">
            <a:avLst/>
          </a:prstGeom>
          <a:noFill/>
          <a:ln/>
        </p:spPr>
        <p:txBody>
          <a:bodyPr wrap="square" lIns="0" tIns="0" rIns="0" bIns="0" rtlCol="0" anchor="ctr"/>
          <a:lstStyle/>
          <a:p>
            <a:pPr marL="0" indent="0">
              <a:buNone/>
            </a:pPr>
            <a:r>
              <a:rPr lang="en-US" sz="1400" dirty="0">
                <a:solidFill>
                  <a:srgbClr val="567077"/>
                </a:solidFill>
                <a:latin typeface="Arial" pitchFamily="34" charset="0"/>
                <a:ea typeface="Arial" pitchFamily="34" charset="-122"/>
                <a:cs typeface="Arial" pitchFamily="34" charset="-120"/>
              </a:rPr>
              <a:t>The next action is uncertain.</a:t>
            </a:r>
            <a:endParaRPr lang="en-US" sz="1400" dirty="0"/>
          </a:p>
        </p:txBody>
      </p:sp>
      <p:sp>
        <p:nvSpPr>
          <p:cNvPr id="25" name="Text 21"/>
          <p:cNvSpPr/>
          <p:nvPr/>
        </p:nvSpPr>
        <p:spPr>
          <a:xfrm>
            <a:off x="8275320" y="4114800"/>
            <a:ext cx="914400" cy="411480"/>
          </a:xfrm>
          <a:prstGeom prst="rect">
            <a:avLst/>
          </a:prstGeom>
          <a:noFill/>
          <a:ln/>
        </p:spPr>
        <p:txBody>
          <a:bodyPr wrap="square" lIns="0" tIns="0" rIns="0" bIns="0" rtlCol="0" anchor="ctr"/>
          <a:lstStyle/>
          <a:p>
            <a:pPr marL="0" indent="0">
              <a:buNone/>
            </a:pPr>
            <a:r>
              <a:rPr lang="en-US" sz="2500" b="1" dirty="0">
                <a:solidFill>
                  <a:srgbClr val="087A86"/>
                </a:solidFill>
                <a:latin typeface="Arial" pitchFamily="34" charset="0"/>
                <a:ea typeface="Arial" pitchFamily="34" charset="-122"/>
                <a:cs typeface="Arial" pitchFamily="34" charset="-120"/>
              </a:rPr>
              <a:t>03</a:t>
            </a:r>
            <a:endParaRPr lang="en-US" sz="2500" dirty="0"/>
          </a:p>
        </p:txBody>
      </p:sp>
      <p:sp>
        <p:nvSpPr>
          <p:cNvPr id="26" name="Text 22"/>
          <p:cNvSpPr/>
          <p:nvPr/>
        </p:nvSpPr>
        <p:spPr>
          <a:xfrm>
            <a:off x="8275320" y="4709160"/>
            <a:ext cx="3474720" cy="365760"/>
          </a:xfrm>
          <a:prstGeom prst="rect">
            <a:avLst/>
          </a:prstGeom>
          <a:noFill/>
          <a:ln/>
        </p:spPr>
        <p:txBody>
          <a:bodyPr wrap="square" lIns="0" tIns="0" rIns="0" bIns="0" rtlCol="0" anchor="ctr"/>
          <a:lstStyle/>
          <a:p>
            <a:pPr marL="0" indent="0">
              <a:buNone/>
            </a:pPr>
            <a:r>
              <a:rPr lang="en-US" sz="2300" b="1" dirty="0">
                <a:solidFill>
                  <a:srgbClr val="17383E"/>
                </a:solidFill>
                <a:latin typeface="Arial" pitchFamily="34" charset="0"/>
                <a:ea typeface="Arial" pitchFamily="34" charset="-122"/>
                <a:cs typeface="Arial" pitchFamily="34" charset="-120"/>
              </a:rPr>
              <a:t>Uncertain closure</a:t>
            </a:r>
            <a:endParaRPr lang="en-US" sz="2300" dirty="0"/>
          </a:p>
        </p:txBody>
      </p:sp>
      <p:sp>
        <p:nvSpPr>
          <p:cNvPr id="27" name="Text 23"/>
          <p:cNvSpPr/>
          <p:nvPr/>
        </p:nvSpPr>
        <p:spPr>
          <a:xfrm>
            <a:off x="8275320" y="5285232"/>
            <a:ext cx="3337560" cy="548640"/>
          </a:xfrm>
          <a:prstGeom prst="rect">
            <a:avLst/>
          </a:prstGeom>
          <a:noFill/>
          <a:ln/>
        </p:spPr>
        <p:txBody>
          <a:bodyPr wrap="square" lIns="0" tIns="0" rIns="0" bIns="0" rtlCol="0" anchor="ctr"/>
          <a:lstStyle/>
          <a:p>
            <a:pPr marL="0" indent="0">
              <a:buNone/>
            </a:pPr>
            <a:r>
              <a:rPr lang="en-US" sz="1400" dirty="0">
                <a:solidFill>
                  <a:srgbClr val="567077"/>
                </a:solidFill>
                <a:latin typeface="Arial" pitchFamily="34" charset="0"/>
                <a:ea typeface="Arial" pitchFamily="34" charset="-122"/>
                <a:cs typeface="Arial" pitchFamily="34" charset="-120"/>
              </a:rPr>
              <a:t>SMEs keep following up.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Users/witchjenjen/Documents/ChatGPT/FSD/Team-8/public/brand/parcelcare-logo.png"/>
          <p:cNvPicPr>
            <a:picLocks noChangeAspect="1"/>
          </p:cNvPicPr>
          <p:nvPr/>
        </p:nvPicPr>
        <p:blipFill>
          <a:blip r:embed="rId3"/>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marL="0" indent="0">
              <a:buNone/>
            </a:pPr>
            <a:r>
              <a:rPr lang="en-US" sz="1100" b="1" kern="0" spc="140" dirty="0">
                <a:solidFill>
                  <a:srgbClr val="087A86"/>
                </a:solidFill>
                <a:latin typeface="Arial" pitchFamily="34" charset="0"/>
                <a:ea typeface="Arial" pitchFamily="34" charset="-122"/>
                <a:cs typeface="Arial" pitchFamily="34" charset="-120"/>
              </a:rPr>
              <a:t>SOLUTION</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marL="0" indent="0">
              <a:buNone/>
            </a:pPr>
            <a:r>
              <a:rPr lang="en-US" sz="3400" b="1" dirty="0">
                <a:solidFill>
                  <a:srgbClr val="17383E"/>
                </a:solidFill>
                <a:latin typeface="Arial" pitchFamily="34" charset="0"/>
                <a:ea typeface="Arial" pitchFamily="34" charset="-122"/>
                <a:cs typeface="Arial" pitchFamily="34" charset="-120"/>
              </a:rPr>
              <a:t>One shared case.</a:t>
            </a:r>
            <a:endParaRPr lang="en-US" sz="3400" dirty="0"/>
          </a:p>
          <a:p>
            <a:pPr marL="0" indent="0">
              <a:buNone/>
            </a:pPr>
            <a:r>
              <a:rPr lang="en-US" sz="3400" b="1" dirty="0">
                <a:solidFill>
                  <a:srgbClr val="17383E"/>
                </a:solidFill>
                <a:latin typeface="Arial" pitchFamily="34" charset="0"/>
                <a:ea typeface="Arial" pitchFamily="34" charset="-122"/>
                <a:cs typeface="Arial" pitchFamily="34" charset="-120"/>
              </a:rPr>
              <a:t>A clear next action.</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marL="0" indent="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marL="0" indent="0" algn="r">
              <a:buNone/>
            </a:pPr>
            <a:r>
              <a:rPr lang="en-US" sz="1000" dirty="0">
                <a:solidFill>
                  <a:srgbClr val="567077"/>
                </a:solidFill>
                <a:latin typeface="Arial" pitchFamily="34" charset="0"/>
                <a:ea typeface="Arial" pitchFamily="34" charset="-122"/>
                <a:cs typeface="Arial" pitchFamily="34" charset="-120"/>
              </a:rPr>
              <a:t>03 / 07</a:t>
            </a:r>
            <a:endParaRPr lang="en-US" sz="1000" dirty="0"/>
          </a:p>
        </p:txBody>
      </p:sp>
      <p:sp>
        <p:nvSpPr>
          <p:cNvPr id="8" name="Shape 4"/>
          <p:cNvSpPr/>
          <p:nvPr/>
        </p:nvSpPr>
        <p:spPr>
          <a:xfrm>
            <a:off x="594360" y="2788920"/>
            <a:ext cx="1965960" cy="822960"/>
          </a:xfrm>
          <a:prstGeom prst="roundRect">
            <a:avLst>
              <a:gd name="adj" fmla="val 13333"/>
            </a:avLst>
          </a:prstGeom>
          <a:solidFill>
            <a:srgbClr val="EAF9FA"/>
          </a:solidFill>
          <a:ln w="10160">
            <a:solidFill>
              <a:srgbClr val="EAF9FA"/>
            </a:solidFill>
            <a:prstDash val="solid"/>
          </a:ln>
        </p:spPr>
      </p:sp>
      <p:sp>
        <p:nvSpPr>
          <p:cNvPr id="9" name="Text 5"/>
          <p:cNvSpPr/>
          <p:nvPr/>
        </p:nvSpPr>
        <p:spPr>
          <a:xfrm>
            <a:off x="722376" y="2971800"/>
            <a:ext cx="1709928" cy="429768"/>
          </a:xfrm>
          <a:prstGeom prst="rect">
            <a:avLst/>
          </a:prstGeom>
          <a:noFill/>
          <a:ln/>
        </p:spPr>
        <p:txBody>
          <a:bodyPr wrap="square" lIns="0" tIns="0" rIns="0" bIns="0" rtlCol="0" anchor="ctr"/>
          <a:lstStyle/>
          <a:p>
            <a:pPr marL="0" indent="0">
              <a:buNone/>
            </a:pPr>
            <a:r>
              <a:rPr lang="en-US" sz="1700" b="1" dirty="0">
                <a:solidFill>
                  <a:srgbClr val="17383E"/>
                </a:solidFill>
                <a:latin typeface="Arial" pitchFamily="34" charset="0"/>
                <a:ea typeface="Arial" pitchFamily="34" charset="-122"/>
                <a:cs typeface="Arial" pitchFamily="34" charset="-120"/>
              </a:rPr>
              <a:t>Report</a:t>
            </a:r>
            <a:endParaRPr lang="en-US" sz="1700" dirty="0"/>
          </a:p>
        </p:txBody>
      </p:sp>
      <p:sp>
        <p:nvSpPr>
          <p:cNvPr id="10" name="Text 6"/>
          <p:cNvSpPr/>
          <p:nvPr/>
        </p:nvSpPr>
        <p:spPr>
          <a:xfrm>
            <a:off x="2587752" y="3017520"/>
            <a:ext cx="274320" cy="365760"/>
          </a:xfrm>
          <a:prstGeom prst="rect">
            <a:avLst/>
          </a:prstGeom>
          <a:noFill/>
          <a:ln/>
        </p:spPr>
        <p:txBody>
          <a:bodyPr wrap="square" lIns="0" tIns="0" rIns="0" bIns="0" rtlCol="0" anchor="ctr"/>
          <a:lstStyle/>
          <a:p>
            <a:pPr marL="0" indent="0" algn="ctr">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1" name="Shape 7"/>
          <p:cNvSpPr/>
          <p:nvPr/>
        </p:nvSpPr>
        <p:spPr>
          <a:xfrm>
            <a:off x="2907792" y="2788920"/>
            <a:ext cx="1965960" cy="822960"/>
          </a:xfrm>
          <a:prstGeom prst="roundRect">
            <a:avLst>
              <a:gd name="adj" fmla="val 13333"/>
            </a:avLst>
          </a:prstGeom>
          <a:solidFill>
            <a:srgbClr val="EAF9FA"/>
          </a:solidFill>
          <a:ln w="10160">
            <a:solidFill>
              <a:srgbClr val="EAF9FA"/>
            </a:solidFill>
            <a:prstDash val="solid"/>
          </a:ln>
        </p:spPr>
      </p:sp>
      <p:sp>
        <p:nvSpPr>
          <p:cNvPr id="12" name="Text 8"/>
          <p:cNvSpPr/>
          <p:nvPr/>
        </p:nvSpPr>
        <p:spPr>
          <a:xfrm>
            <a:off x="3035808" y="2971800"/>
            <a:ext cx="1709928" cy="429768"/>
          </a:xfrm>
          <a:prstGeom prst="rect">
            <a:avLst/>
          </a:prstGeom>
          <a:noFill/>
          <a:ln/>
        </p:spPr>
        <p:txBody>
          <a:bodyPr wrap="square" lIns="0" tIns="0" rIns="0" bIns="0" rtlCol="0" anchor="ctr"/>
          <a:lstStyle/>
          <a:p>
            <a:pPr marL="0" indent="0">
              <a:buNone/>
            </a:pPr>
            <a:r>
              <a:rPr lang="en-US" sz="1700" b="1" dirty="0">
                <a:solidFill>
                  <a:srgbClr val="17383E"/>
                </a:solidFill>
                <a:latin typeface="Arial" pitchFamily="34" charset="0"/>
                <a:ea typeface="Arial" pitchFamily="34" charset="-122"/>
                <a:cs typeface="Arial" pitchFamily="34" charset="-120"/>
              </a:rPr>
              <a:t>Investigate</a:t>
            </a:r>
            <a:endParaRPr lang="en-US" sz="1700" dirty="0"/>
          </a:p>
        </p:txBody>
      </p:sp>
      <p:sp>
        <p:nvSpPr>
          <p:cNvPr id="13" name="Text 9"/>
          <p:cNvSpPr/>
          <p:nvPr/>
        </p:nvSpPr>
        <p:spPr>
          <a:xfrm>
            <a:off x="4901184" y="3017520"/>
            <a:ext cx="274320" cy="365760"/>
          </a:xfrm>
          <a:prstGeom prst="rect">
            <a:avLst/>
          </a:prstGeom>
          <a:noFill/>
          <a:ln/>
        </p:spPr>
        <p:txBody>
          <a:bodyPr wrap="square" lIns="0" tIns="0" rIns="0" bIns="0" rtlCol="0" anchor="ctr"/>
          <a:lstStyle/>
          <a:p>
            <a:pPr marL="0" indent="0" algn="ctr">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4" name="Shape 10"/>
          <p:cNvSpPr/>
          <p:nvPr/>
        </p:nvSpPr>
        <p:spPr>
          <a:xfrm>
            <a:off x="5221224" y="2788920"/>
            <a:ext cx="1965960" cy="822960"/>
          </a:xfrm>
          <a:prstGeom prst="roundRect">
            <a:avLst>
              <a:gd name="adj" fmla="val 13333"/>
            </a:avLst>
          </a:prstGeom>
          <a:solidFill>
            <a:srgbClr val="EAF9FA"/>
          </a:solidFill>
          <a:ln w="10160">
            <a:solidFill>
              <a:srgbClr val="EAF9FA"/>
            </a:solidFill>
            <a:prstDash val="solid"/>
          </a:ln>
        </p:spPr>
      </p:sp>
      <p:sp>
        <p:nvSpPr>
          <p:cNvPr id="15" name="Text 11"/>
          <p:cNvSpPr/>
          <p:nvPr/>
        </p:nvSpPr>
        <p:spPr>
          <a:xfrm>
            <a:off x="5349240" y="2971800"/>
            <a:ext cx="1709928" cy="429768"/>
          </a:xfrm>
          <a:prstGeom prst="rect">
            <a:avLst/>
          </a:prstGeom>
          <a:noFill/>
          <a:ln/>
        </p:spPr>
        <p:txBody>
          <a:bodyPr wrap="square" lIns="0" tIns="0" rIns="0" bIns="0" rtlCol="0" anchor="ctr"/>
          <a:lstStyle/>
          <a:p>
            <a:pPr marL="0" indent="0">
              <a:buNone/>
            </a:pPr>
            <a:r>
              <a:rPr lang="en-US" sz="1700" b="1" dirty="0">
                <a:solidFill>
                  <a:srgbClr val="17383E"/>
                </a:solidFill>
                <a:latin typeface="Arial" pitchFamily="34" charset="0"/>
                <a:ea typeface="Arial" pitchFamily="34" charset="-122"/>
                <a:cs typeface="Arial" pitchFamily="34" charset="-120"/>
              </a:rPr>
              <a:t>Review</a:t>
            </a:r>
            <a:endParaRPr lang="en-US" sz="1700" dirty="0"/>
          </a:p>
        </p:txBody>
      </p:sp>
      <p:sp>
        <p:nvSpPr>
          <p:cNvPr id="16" name="Text 12"/>
          <p:cNvSpPr/>
          <p:nvPr/>
        </p:nvSpPr>
        <p:spPr>
          <a:xfrm>
            <a:off x="7214616" y="3017520"/>
            <a:ext cx="274320" cy="365760"/>
          </a:xfrm>
          <a:prstGeom prst="rect">
            <a:avLst/>
          </a:prstGeom>
          <a:noFill/>
          <a:ln/>
        </p:spPr>
        <p:txBody>
          <a:bodyPr wrap="square" lIns="0" tIns="0" rIns="0" bIns="0" rtlCol="0" anchor="ctr"/>
          <a:lstStyle/>
          <a:p>
            <a:pPr marL="0" indent="0" algn="ctr">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7" name="Shape 13"/>
          <p:cNvSpPr/>
          <p:nvPr/>
        </p:nvSpPr>
        <p:spPr>
          <a:xfrm>
            <a:off x="7534656" y="2788920"/>
            <a:ext cx="1965960" cy="822960"/>
          </a:xfrm>
          <a:prstGeom prst="roundRect">
            <a:avLst>
              <a:gd name="adj" fmla="val 13333"/>
            </a:avLst>
          </a:prstGeom>
          <a:solidFill>
            <a:srgbClr val="EAF9FA"/>
          </a:solidFill>
          <a:ln w="10160">
            <a:solidFill>
              <a:srgbClr val="EAF9FA"/>
            </a:solidFill>
            <a:prstDash val="solid"/>
          </a:ln>
        </p:spPr>
      </p:sp>
      <p:sp>
        <p:nvSpPr>
          <p:cNvPr id="18" name="Text 14"/>
          <p:cNvSpPr/>
          <p:nvPr/>
        </p:nvSpPr>
        <p:spPr>
          <a:xfrm>
            <a:off x="7662672" y="2971800"/>
            <a:ext cx="1709928" cy="429768"/>
          </a:xfrm>
          <a:prstGeom prst="rect">
            <a:avLst/>
          </a:prstGeom>
          <a:noFill/>
          <a:ln/>
        </p:spPr>
        <p:txBody>
          <a:bodyPr wrap="square" lIns="0" tIns="0" rIns="0" bIns="0" rtlCol="0" anchor="ctr"/>
          <a:lstStyle/>
          <a:p>
            <a:pPr marL="0" indent="0">
              <a:buNone/>
            </a:pPr>
            <a:r>
              <a:rPr lang="en-US" sz="1700" b="1" dirty="0">
                <a:solidFill>
                  <a:srgbClr val="17383E"/>
                </a:solidFill>
                <a:latin typeface="Arial" pitchFamily="34" charset="0"/>
                <a:ea typeface="Arial" pitchFamily="34" charset="-122"/>
                <a:cs typeface="Arial" pitchFamily="34" charset="-120"/>
              </a:rPr>
              <a:t>SME decision</a:t>
            </a:r>
            <a:endParaRPr lang="en-US" sz="1700" dirty="0"/>
          </a:p>
        </p:txBody>
      </p:sp>
      <p:sp>
        <p:nvSpPr>
          <p:cNvPr id="19" name="Text 15"/>
          <p:cNvSpPr/>
          <p:nvPr/>
        </p:nvSpPr>
        <p:spPr>
          <a:xfrm>
            <a:off x="9528048" y="3017520"/>
            <a:ext cx="274320" cy="365760"/>
          </a:xfrm>
          <a:prstGeom prst="rect">
            <a:avLst/>
          </a:prstGeom>
          <a:noFill/>
          <a:ln/>
        </p:spPr>
        <p:txBody>
          <a:bodyPr wrap="square" lIns="0" tIns="0" rIns="0" bIns="0" rtlCol="0" anchor="ctr"/>
          <a:lstStyle/>
          <a:p>
            <a:pPr marL="0" indent="0" algn="ctr">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20" name="Shape 16"/>
          <p:cNvSpPr/>
          <p:nvPr/>
        </p:nvSpPr>
        <p:spPr>
          <a:xfrm>
            <a:off x="9848088" y="2788920"/>
            <a:ext cx="1965960" cy="822960"/>
          </a:xfrm>
          <a:prstGeom prst="roundRect">
            <a:avLst>
              <a:gd name="adj" fmla="val 13333"/>
            </a:avLst>
          </a:prstGeom>
          <a:solidFill>
            <a:srgbClr val="FFF5D7"/>
          </a:solidFill>
          <a:ln w="10160">
            <a:solidFill>
              <a:srgbClr val="FFF5D7"/>
            </a:solidFill>
            <a:prstDash val="solid"/>
          </a:ln>
        </p:spPr>
      </p:sp>
      <p:sp>
        <p:nvSpPr>
          <p:cNvPr id="21" name="Text 17"/>
          <p:cNvSpPr/>
          <p:nvPr/>
        </p:nvSpPr>
        <p:spPr>
          <a:xfrm>
            <a:off x="9976104" y="2971800"/>
            <a:ext cx="1709928" cy="429768"/>
          </a:xfrm>
          <a:prstGeom prst="rect">
            <a:avLst/>
          </a:prstGeom>
          <a:noFill/>
          <a:ln/>
        </p:spPr>
        <p:txBody>
          <a:bodyPr wrap="square" lIns="0" tIns="0" rIns="0" bIns="0" rtlCol="0" anchor="ctr"/>
          <a:lstStyle/>
          <a:p>
            <a:pPr marL="0" indent="0">
              <a:buNone/>
            </a:pPr>
            <a:r>
              <a:rPr lang="en-US" sz="1700" b="1" dirty="0">
                <a:solidFill>
                  <a:srgbClr val="17383E"/>
                </a:solidFill>
                <a:latin typeface="Arial" pitchFamily="34" charset="0"/>
                <a:ea typeface="Arial" pitchFamily="34" charset="-122"/>
                <a:cs typeface="Arial" pitchFamily="34" charset="-120"/>
              </a:rPr>
              <a:t>Verified resolution</a:t>
            </a:r>
            <a:endParaRPr lang="en-US" sz="1700" dirty="0"/>
          </a:p>
        </p:txBody>
      </p:sp>
      <p:sp>
        <p:nvSpPr>
          <p:cNvPr id="22" name="Text 18"/>
          <p:cNvSpPr/>
          <p:nvPr/>
        </p:nvSpPr>
        <p:spPr>
          <a:xfrm>
            <a:off x="594360" y="4133088"/>
            <a:ext cx="3200400" cy="365760"/>
          </a:xfrm>
          <a:prstGeom prst="rect">
            <a:avLst/>
          </a:prstGeom>
          <a:noFill/>
          <a:ln/>
        </p:spPr>
        <p:txBody>
          <a:bodyPr wrap="square" lIns="0" tIns="0" rIns="0" bIns="0" rtlCol="0" anchor="ctr"/>
          <a:lstStyle/>
          <a:p>
            <a:pPr marL="0" indent="0">
              <a:buNone/>
            </a:pPr>
            <a:r>
              <a:rPr lang="en-US" sz="2400" b="1" dirty="0">
                <a:solidFill>
                  <a:srgbClr val="17383E"/>
                </a:solidFill>
                <a:latin typeface="Arial" pitchFamily="34" charset="0"/>
                <a:ea typeface="Arial" pitchFamily="34" charset="-122"/>
                <a:cs typeface="Arial" pitchFamily="34" charset="-120"/>
              </a:rPr>
              <a:t>AI assistance</a:t>
            </a:r>
            <a:endParaRPr lang="en-US" sz="2400" dirty="0"/>
          </a:p>
        </p:txBody>
      </p:sp>
      <p:sp>
        <p:nvSpPr>
          <p:cNvPr id="23" name="Text 19"/>
          <p:cNvSpPr/>
          <p:nvPr/>
        </p:nvSpPr>
        <p:spPr>
          <a:xfrm>
            <a:off x="594360" y="4663440"/>
            <a:ext cx="5303520" cy="960120"/>
          </a:xfrm>
          <a:prstGeom prst="rect">
            <a:avLst/>
          </a:prstGeom>
          <a:noFill/>
          <a:ln/>
        </p:spPr>
        <p:txBody>
          <a:bodyPr wrap="square" lIns="0" tIns="0" rIns="0" bIns="0" rtlCol="0" anchor="ctr"/>
          <a:lstStyle/>
          <a:p>
            <a:pPr marL="0" indent="0">
              <a:buNone/>
            </a:pPr>
            <a:r>
              <a:rPr lang="en-US" sz="2000" dirty="0">
                <a:solidFill>
                  <a:srgbClr val="17383E"/>
                </a:solidFill>
                <a:latin typeface="Arial" pitchFamily="34" charset="0"/>
                <a:ea typeface="Arial" pitchFamily="34" charset="-122"/>
                <a:cs typeface="Arial" pitchFamily="34" charset="-120"/>
              </a:rPr>
              <a:t>Summarize known facts</a:t>
            </a:r>
            <a:endParaRPr lang="en-US" sz="2000" dirty="0"/>
          </a:p>
          <a:p>
            <a:pPr marL="0" indent="0">
              <a:buNone/>
            </a:pPr>
            <a:r>
              <a:rPr lang="en-US" sz="2000" dirty="0">
                <a:solidFill>
                  <a:srgbClr val="17383E"/>
                </a:solidFill>
                <a:latin typeface="Arial" pitchFamily="34" charset="0"/>
                <a:ea typeface="Arial" pitchFamily="34" charset="-122"/>
                <a:cs typeface="Arial" pitchFamily="34" charset="-120"/>
              </a:rPr>
              <a:t>Flag missing information</a:t>
            </a:r>
            <a:endParaRPr lang="en-US" sz="2000" dirty="0"/>
          </a:p>
          <a:p>
            <a:pPr marL="0" indent="0">
              <a:buNone/>
            </a:pPr>
            <a:r>
              <a:rPr lang="en-US" sz="2000" dirty="0">
                <a:solidFill>
                  <a:srgbClr val="17383E"/>
                </a:solidFill>
                <a:latin typeface="Arial" pitchFamily="34" charset="0"/>
                <a:ea typeface="Arial" pitchFamily="34" charset="-122"/>
                <a:cs typeface="Arial" pitchFamily="34" charset="-120"/>
              </a:rPr>
              <a:t>Suggest a next action</a:t>
            </a:r>
            <a:endParaRPr lang="en-US" sz="2000" dirty="0"/>
          </a:p>
        </p:txBody>
      </p:sp>
      <p:sp>
        <p:nvSpPr>
          <p:cNvPr id="24" name="Shape 20"/>
          <p:cNvSpPr/>
          <p:nvPr/>
        </p:nvSpPr>
        <p:spPr>
          <a:xfrm>
            <a:off x="6537960" y="4041648"/>
            <a:ext cx="4983480" cy="1737360"/>
          </a:xfrm>
          <a:prstGeom prst="roundRect">
            <a:avLst>
              <a:gd name="adj" fmla="val 6316"/>
            </a:avLst>
          </a:prstGeom>
          <a:solidFill>
            <a:srgbClr val="F5F8F9"/>
          </a:solidFill>
          <a:ln w="10160">
            <a:solidFill>
              <a:srgbClr val="F5F8F9"/>
            </a:solidFill>
            <a:prstDash val="solid"/>
          </a:ln>
        </p:spPr>
      </p:sp>
      <p:sp>
        <p:nvSpPr>
          <p:cNvPr id="25" name="Text 21"/>
          <p:cNvSpPr/>
          <p:nvPr/>
        </p:nvSpPr>
        <p:spPr>
          <a:xfrm>
            <a:off x="6812280" y="4325112"/>
            <a:ext cx="4434840" cy="365760"/>
          </a:xfrm>
          <a:prstGeom prst="rect">
            <a:avLst/>
          </a:prstGeom>
          <a:noFill/>
          <a:ln/>
        </p:spPr>
        <p:txBody>
          <a:bodyPr wrap="square" lIns="0" tIns="0" rIns="0" bIns="0" rtlCol="0" anchor="ctr"/>
          <a:lstStyle/>
          <a:p>
            <a:pPr marL="0" indent="0">
              <a:buNone/>
            </a:pPr>
            <a:r>
              <a:rPr lang="en-US" sz="2300" b="1" dirty="0">
                <a:solidFill>
                  <a:srgbClr val="17383E"/>
                </a:solidFill>
                <a:latin typeface="Arial" pitchFamily="34" charset="0"/>
                <a:ea typeface="Arial" pitchFamily="34" charset="-122"/>
                <a:cs typeface="Arial" pitchFamily="34" charset="-120"/>
              </a:rPr>
              <a:t>Recommendation ≠ approval</a:t>
            </a:r>
            <a:endParaRPr lang="en-US" sz="2300" dirty="0"/>
          </a:p>
        </p:txBody>
      </p:sp>
      <p:sp>
        <p:nvSpPr>
          <p:cNvPr id="26" name="Text 22"/>
          <p:cNvSpPr/>
          <p:nvPr/>
        </p:nvSpPr>
        <p:spPr>
          <a:xfrm>
            <a:off x="6812280" y="4882896"/>
            <a:ext cx="4315968" cy="548640"/>
          </a:xfrm>
          <a:prstGeom prst="rect">
            <a:avLst/>
          </a:prstGeom>
          <a:noFill/>
          <a:ln/>
        </p:spPr>
        <p:txBody>
          <a:bodyPr wrap="square" lIns="0" tIns="0" rIns="0" bIns="0" rtlCol="0" anchor="ctr"/>
          <a:lstStyle/>
          <a:p>
            <a:pPr marL="0" indent="0">
              <a:buNone/>
            </a:pPr>
            <a:r>
              <a:rPr lang="en-US" sz="1400" dirty="0">
                <a:solidFill>
                  <a:srgbClr val="567077"/>
                </a:solidFill>
                <a:latin typeface="Arial" pitchFamily="34" charset="0"/>
                <a:ea typeface="Arial" pitchFamily="34" charset="-122"/>
                <a:cs typeface="Arial" pitchFamily="34" charset="-120"/>
              </a:rPr>
              <a:t>Human decisions and physical verification remain separate.</a:t>
            </a:r>
            <a:endParaRPr lang="en-US" sz="1400" dirty="0"/>
          </a:p>
        </p:txBody>
      </p:sp>
      <p:sp>
        <p:nvSpPr>
          <p:cNvPr id="27" name="Text 23"/>
          <p:cNvSpPr/>
          <p:nvPr/>
        </p:nvSpPr>
        <p:spPr>
          <a:xfrm>
            <a:off x="594360" y="6016752"/>
            <a:ext cx="10972800" cy="219456"/>
          </a:xfrm>
          <a:prstGeom prst="rect">
            <a:avLst/>
          </a:prstGeom>
          <a:noFill/>
          <a:ln/>
        </p:spPr>
        <p:txBody>
          <a:bodyPr wrap="square" lIns="0" tIns="0" rIns="0" bIns="0" rtlCol="0" anchor="ctr"/>
          <a:lstStyle/>
          <a:p>
            <a:pPr marL="0" indent="0">
              <a:buNone/>
            </a:pPr>
            <a:r>
              <a:rPr lang="en-US" sz="1200" dirty="0">
                <a:solidFill>
                  <a:srgbClr val="567077"/>
                </a:solidFill>
                <a:latin typeface="Arial" pitchFamily="34" charset="0"/>
                <a:ea typeface="Arial" pitchFamily="34" charset="-122"/>
                <a:cs typeface="Arial" pitchFamily="34" charset="-120"/>
              </a:rPr>
              <a:t>AI capability direction · the following demo uses rule-based checks.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Users/witchjenjen/Documents/ChatGPT/FSD/Team-8/public/brand/parcelcare-logo.png"/>
          <p:cNvPicPr>
            <a:picLocks noChangeAspect="1"/>
          </p:cNvPicPr>
          <p:nvPr/>
        </p:nvPicPr>
        <p:blipFill>
          <a:blip r:embed="rId5"/>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marL="0" indent="0">
              <a:buNone/>
            </a:pPr>
            <a:r>
              <a:rPr lang="en-US" sz="1100" b="1" kern="0" spc="140" dirty="0">
                <a:solidFill>
                  <a:srgbClr val="087A86"/>
                </a:solidFill>
                <a:latin typeface="Arial" pitchFamily="34" charset="0"/>
                <a:ea typeface="Arial" pitchFamily="34" charset="-122"/>
                <a:cs typeface="Arial" pitchFamily="34" charset="-120"/>
              </a:rPr>
              <a:t>PRODUCT DEMO · 1 MINUTE 50 SECONDS</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marL="0" indent="0">
              <a:buNone/>
            </a:pPr>
            <a:r>
              <a:rPr lang="en-US" sz="3400" b="1" dirty="0">
                <a:solidFill>
                  <a:srgbClr val="17383E"/>
                </a:solidFill>
                <a:latin typeface="Arial" pitchFamily="34" charset="0"/>
                <a:ea typeface="Arial" pitchFamily="34" charset="-122"/>
                <a:cs typeface="Arial" pitchFamily="34" charset="-120"/>
              </a:rPr>
              <a:t>One issue, from report to confirmation.</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marL="0" indent="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marL="0" indent="0" algn="r">
              <a:buNone/>
            </a:pPr>
            <a:r>
              <a:rPr lang="en-US" sz="1000" dirty="0">
                <a:solidFill>
                  <a:srgbClr val="567077"/>
                </a:solidFill>
                <a:latin typeface="Arial" pitchFamily="34" charset="0"/>
                <a:ea typeface="Arial" pitchFamily="34" charset="-122"/>
                <a:cs typeface="Arial" pitchFamily="34" charset="-120"/>
              </a:rPr>
              <a:t>04 / 07</a:t>
            </a:r>
            <a:endParaRPr lang="en-US" sz="1000" dirty="0"/>
          </a:p>
        </p:txBody>
      </p:sp>
      <p:pic>
        <p:nvPicPr>
          <p:cNvPr id="8" name="Image 1" descr="/Users/witchjenjen/Documents/ChatGPT/FSD/Team-8/presentation/parcelcare-pitch/assets/video-cover.png"/>
          <p:cNvPicPr>
            <a:picLocks noChangeAspect="1"/>
          </p:cNvPicPr>
          <p:nvPr/>
        </p:nvPicPr>
        <p:blipFill>
          <a:blip r:embed="rId6"/>
          <a:stretch>
            <a:fillRect/>
          </a:stretch>
        </p:blipFill>
        <p:spPr>
          <a:xfrm>
            <a:off x="594360" y="2560320"/>
            <a:ext cx="8549640" cy="3429000"/>
          </a:xfrm>
          <a:prstGeom prst="rect">
            <a:avLst/>
          </a:prstGeom>
        </p:spPr>
      </p:pic>
      <p:pic>
        <p:nvPicPr>
          <p:cNvPr id="7"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94360" y="2560320"/>
            <a:ext cx="8549640" cy="3429000"/>
          </a:xfrm>
          <a:prstGeom prst="rect">
            <a:avLst/>
          </a:prstGeom>
        </p:spPr>
      </p:pic>
      <p:sp>
        <p:nvSpPr>
          <p:cNvPr id="10" name="Text 4"/>
          <p:cNvSpPr/>
          <p:nvPr/>
        </p:nvSpPr>
        <p:spPr>
          <a:xfrm>
            <a:off x="9464040" y="2788920"/>
            <a:ext cx="2103120" cy="320040"/>
          </a:xfrm>
          <a:prstGeom prst="rect">
            <a:avLst/>
          </a:prstGeom>
          <a:noFill/>
          <a:ln/>
        </p:spPr>
        <p:txBody>
          <a:bodyPr wrap="square" lIns="0" tIns="0" rIns="0" bIns="0" rtlCol="0" anchor="ctr"/>
          <a:lstStyle/>
          <a:p>
            <a:pPr marL="0" indent="0">
              <a:buNone/>
            </a:pPr>
            <a:r>
              <a:rPr lang="en-US" sz="2400" b="1" dirty="0">
                <a:solidFill>
                  <a:srgbClr val="087A86"/>
                </a:solidFill>
                <a:latin typeface="Arial" pitchFamily="34" charset="0"/>
                <a:ea typeface="Arial" pitchFamily="34" charset="-122"/>
                <a:cs typeface="Arial" pitchFamily="34" charset="-120"/>
              </a:rPr>
              <a:t>WR-2001</a:t>
            </a:r>
            <a:endParaRPr lang="en-US" sz="2400" dirty="0"/>
          </a:p>
        </p:txBody>
      </p:sp>
      <p:sp>
        <p:nvSpPr>
          <p:cNvPr id="11" name="Text 5"/>
          <p:cNvSpPr/>
          <p:nvPr/>
        </p:nvSpPr>
        <p:spPr>
          <a:xfrm>
            <a:off x="9464040" y="3246120"/>
            <a:ext cx="2103120" cy="256032"/>
          </a:xfrm>
          <a:prstGeom prst="rect">
            <a:avLst/>
          </a:prstGeom>
          <a:noFill/>
          <a:ln/>
        </p:spPr>
        <p:txBody>
          <a:bodyPr wrap="square" lIns="0" tIns="0" rIns="0" bIns="0" rtlCol="0" anchor="ctr"/>
          <a:lstStyle/>
          <a:p>
            <a:pPr marL="0" indent="0">
              <a:buNone/>
            </a:pPr>
            <a:r>
              <a:rPr lang="en-US" sz="1600" dirty="0">
                <a:solidFill>
                  <a:srgbClr val="567077"/>
                </a:solidFill>
                <a:latin typeface="Arial" pitchFamily="34" charset="0"/>
                <a:ea typeface="Arial" pitchFamily="34" charset="-122"/>
                <a:cs typeface="Arial" pitchFamily="34" charset="-120"/>
              </a:rPr>
              <a:t>IN-0081</a:t>
            </a:r>
            <a:endParaRPr lang="en-US" sz="1600" dirty="0"/>
          </a:p>
        </p:txBody>
      </p:sp>
      <p:sp>
        <p:nvSpPr>
          <p:cNvPr id="12" name="Text 6"/>
          <p:cNvSpPr/>
          <p:nvPr/>
        </p:nvSpPr>
        <p:spPr>
          <a:xfrm>
            <a:off x="9464040" y="3767328"/>
            <a:ext cx="2103120" cy="1645920"/>
          </a:xfrm>
          <a:prstGeom prst="rect">
            <a:avLst/>
          </a:prstGeom>
          <a:noFill/>
          <a:ln/>
        </p:spPr>
        <p:txBody>
          <a:bodyPr wrap="square" lIns="0" tIns="0" rIns="0" bIns="0" rtlCol="0" anchor="ctr"/>
          <a:lstStyle/>
          <a:p>
            <a:pPr marL="0" indent="0">
              <a:buNone/>
            </a:pPr>
            <a:r>
              <a:rPr lang="en-US" sz="1900" dirty="0">
                <a:solidFill>
                  <a:srgbClr val="17383E"/>
                </a:solidFill>
                <a:latin typeface="Arial" pitchFamily="34" charset="0"/>
                <a:ea typeface="Arial" pitchFamily="34" charset="-122"/>
                <a:cs typeface="Arial" pitchFamily="34" charset="-120"/>
              </a:rPr>
              <a:t>Reported</a:t>
            </a:r>
            <a:endParaRPr lang="en-US" sz="1900" dirty="0"/>
          </a:p>
          <a:p>
            <a:pPr marL="0" indent="0">
              <a:buNone/>
            </a:pPr>
            <a:r>
              <a:rPr lang="en-US" sz="1900" dirty="0">
                <a:solidFill>
                  <a:srgbClr val="17383E"/>
                </a:solidFill>
                <a:latin typeface="Arial" pitchFamily="34" charset="0"/>
                <a:ea typeface="Arial" pitchFamily="34" charset="-122"/>
                <a:cs typeface="Arial" pitchFamily="34" charset="-120"/>
              </a:rPr>
              <a:t>Investigated</a:t>
            </a:r>
            <a:endParaRPr lang="en-US" sz="1900" dirty="0"/>
          </a:p>
          <a:p>
            <a:pPr marL="0" indent="0">
              <a:buNone/>
            </a:pPr>
            <a:r>
              <a:rPr lang="en-US" sz="1900" dirty="0">
                <a:solidFill>
                  <a:srgbClr val="17383E"/>
                </a:solidFill>
                <a:latin typeface="Arial" pitchFamily="34" charset="0"/>
                <a:ea typeface="Arial" pitchFamily="34" charset="-122"/>
                <a:cs typeface="Arial" pitchFamily="34" charset="-120"/>
              </a:rPr>
              <a:t>Reviewed</a:t>
            </a:r>
            <a:endParaRPr lang="en-US" sz="1900" dirty="0"/>
          </a:p>
          <a:p>
            <a:pPr marL="0" indent="0">
              <a:buNone/>
            </a:pPr>
            <a:r>
              <a:rPr lang="en-US" sz="1900" dirty="0">
                <a:solidFill>
                  <a:srgbClr val="17383E"/>
                </a:solidFill>
                <a:latin typeface="Arial" pitchFamily="34" charset="0"/>
                <a:ea typeface="Arial" pitchFamily="34" charset="-122"/>
                <a:cs typeface="Arial" pitchFamily="34" charset="-120"/>
              </a:rPr>
              <a:t>Confirmed</a:t>
            </a:r>
            <a:endParaRPr lang="en-US" sz="1900" dirty="0"/>
          </a:p>
        </p:txBody>
      </p:sp>
      <p:sp>
        <p:nvSpPr>
          <p:cNvPr id="13" name="Text 7"/>
          <p:cNvSpPr/>
          <p:nvPr/>
        </p:nvSpPr>
        <p:spPr>
          <a:xfrm>
            <a:off x="594360" y="6126480"/>
            <a:ext cx="10972800" cy="182880"/>
          </a:xfrm>
          <a:prstGeom prst="rect">
            <a:avLst/>
          </a:prstGeom>
          <a:noFill/>
          <a:ln/>
        </p:spPr>
        <p:txBody>
          <a:bodyPr wrap="square" lIns="0" tIns="0" rIns="0" bIns="0" rtlCol="0" anchor="ctr"/>
          <a:lstStyle/>
          <a:p>
            <a:pPr marL="0" indent="0">
              <a:buNone/>
            </a:pPr>
            <a:r>
              <a:rPr lang="en-US" sz="1000" dirty="0">
                <a:solidFill>
                  <a:srgbClr val="567077"/>
                </a:solidFill>
                <a:latin typeface="Arial" pitchFamily="34" charset="0"/>
                <a:ea typeface="Arial" pitchFamily="34" charset="-122"/>
                <a:cs typeface="Arial" pitchFamily="34" charset="-120"/>
              </a:rPr>
              <a:t>Edited screen walkthrough · fictitious data · rule-based checks · click video to play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Users/witchjenjen/Documents/ChatGPT/FSD/Team-8/public/brand/parcelcare-logo.png"/>
          <p:cNvPicPr>
            <a:picLocks noChangeAspect="1"/>
          </p:cNvPicPr>
          <p:nvPr/>
        </p:nvPicPr>
        <p:blipFill>
          <a:blip r:embed="rId3"/>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marL="0" indent="0">
              <a:buNone/>
            </a:pPr>
            <a:r>
              <a:rPr lang="en-US" sz="1100" b="1" kern="0" spc="140" dirty="0">
                <a:solidFill>
                  <a:srgbClr val="087A86"/>
                </a:solidFill>
                <a:latin typeface="Arial" pitchFamily="34" charset="0"/>
                <a:ea typeface="Arial" pitchFamily="34" charset="-122"/>
                <a:cs typeface="Arial" pitchFamily="34" charset="-120"/>
              </a:rPr>
              <a:t>IMPACT + BUSINESS MODEL</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marL="0" indent="0">
              <a:buNone/>
            </a:pPr>
            <a:r>
              <a:rPr lang="en-US" sz="3400" b="1" dirty="0">
                <a:solidFill>
                  <a:srgbClr val="17383E"/>
                </a:solidFill>
                <a:latin typeface="Arial" pitchFamily="34" charset="0"/>
                <a:ea typeface="Arial" pitchFamily="34" charset="-122"/>
                <a:cs typeface="Arial" pitchFamily="34" charset="-120"/>
              </a:rPr>
              <a:t>The warehouse pays.</a:t>
            </a:r>
            <a:endParaRPr lang="en-US" sz="3400" dirty="0"/>
          </a:p>
          <a:p>
            <a:pPr marL="0" indent="0">
              <a:buNone/>
            </a:pPr>
            <a:r>
              <a:rPr lang="en-US" sz="3400" b="1" dirty="0">
                <a:solidFill>
                  <a:srgbClr val="17383E"/>
                </a:solidFill>
                <a:latin typeface="Arial" pitchFamily="34" charset="0"/>
                <a:ea typeface="Arial" pitchFamily="34" charset="-122"/>
                <a:cs typeface="Arial" pitchFamily="34" charset="-120"/>
              </a:rPr>
              <a:t>Every connected SME benefits.</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marL="0" indent="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marL="0" indent="0" algn="r">
              <a:buNone/>
            </a:pPr>
            <a:r>
              <a:rPr lang="en-US" sz="1000" dirty="0">
                <a:solidFill>
                  <a:srgbClr val="567077"/>
                </a:solidFill>
                <a:latin typeface="Arial" pitchFamily="34" charset="0"/>
                <a:ea typeface="Arial" pitchFamily="34" charset="-122"/>
                <a:cs typeface="Arial" pitchFamily="34" charset="-120"/>
              </a:rPr>
              <a:t>05 / 07</a:t>
            </a:r>
            <a:endParaRPr lang="en-US" sz="1000" dirty="0"/>
          </a:p>
        </p:txBody>
      </p:sp>
      <p:sp>
        <p:nvSpPr>
          <p:cNvPr id="8" name="Shape 4"/>
          <p:cNvSpPr/>
          <p:nvPr/>
        </p:nvSpPr>
        <p:spPr>
          <a:xfrm>
            <a:off x="594360" y="2743200"/>
            <a:ext cx="5212080" cy="2468880"/>
          </a:xfrm>
          <a:prstGeom prst="roundRect">
            <a:avLst>
              <a:gd name="adj" fmla="val 4444"/>
            </a:avLst>
          </a:prstGeom>
          <a:solidFill>
            <a:srgbClr val="EAF9FA"/>
          </a:solidFill>
          <a:ln w="10160">
            <a:solidFill>
              <a:srgbClr val="EAF9FA"/>
            </a:solidFill>
            <a:prstDash val="solid"/>
          </a:ln>
        </p:spPr>
      </p:sp>
      <p:sp>
        <p:nvSpPr>
          <p:cNvPr id="9" name="Text 5"/>
          <p:cNvSpPr/>
          <p:nvPr/>
        </p:nvSpPr>
        <p:spPr>
          <a:xfrm>
            <a:off x="896112" y="3054096"/>
            <a:ext cx="4608576" cy="365760"/>
          </a:xfrm>
          <a:prstGeom prst="rect">
            <a:avLst/>
          </a:prstGeom>
          <a:noFill/>
          <a:ln/>
        </p:spPr>
        <p:txBody>
          <a:bodyPr wrap="square" lIns="0" tIns="0" rIns="0" bIns="0" rtlCol="0" anchor="ctr"/>
          <a:lstStyle/>
          <a:p>
            <a:pPr marL="0" indent="0">
              <a:buNone/>
            </a:pPr>
            <a:r>
              <a:rPr lang="en-US" sz="2600" b="1" dirty="0">
                <a:solidFill>
                  <a:srgbClr val="087A86"/>
                </a:solidFill>
                <a:latin typeface="Arial" pitchFamily="34" charset="0"/>
                <a:ea typeface="Arial" pitchFamily="34" charset="-122"/>
                <a:cs typeface="Arial" pitchFamily="34" charset="-120"/>
              </a:rPr>
              <a:t>B2B SaaS subscription</a:t>
            </a:r>
            <a:endParaRPr lang="en-US" sz="2600" dirty="0"/>
          </a:p>
        </p:txBody>
      </p:sp>
      <p:sp>
        <p:nvSpPr>
          <p:cNvPr id="10" name="Text 6"/>
          <p:cNvSpPr/>
          <p:nvPr/>
        </p:nvSpPr>
        <p:spPr>
          <a:xfrm>
            <a:off x="896112" y="3749040"/>
            <a:ext cx="4553712" cy="1088136"/>
          </a:xfrm>
          <a:prstGeom prst="rect">
            <a:avLst/>
          </a:prstGeom>
          <a:noFill/>
          <a:ln/>
        </p:spPr>
        <p:txBody>
          <a:bodyPr wrap="square" lIns="0" tIns="0" rIns="0" bIns="0" rtlCol="0" anchor="ctr"/>
          <a:lstStyle/>
          <a:p>
            <a:pPr marL="0" indent="0">
              <a:buNone/>
            </a:pPr>
            <a:r>
              <a:rPr lang="en-US" sz="1900" dirty="0">
                <a:solidFill>
                  <a:srgbClr val="17383E"/>
                </a:solidFill>
                <a:latin typeface="Arial" pitchFamily="34" charset="0"/>
                <a:ea typeface="Arial" pitchFamily="34" charset="-122"/>
                <a:cs typeface="Arial" pitchFamily="34" charset="-120"/>
              </a:rPr>
              <a:t>Per warehouse site, per month</a:t>
            </a:r>
            <a:endParaRPr lang="en-US" sz="1900" dirty="0"/>
          </a:p>
          <a:p>
            <a:pPr marL="0" indent="0">
              <a:buNone/>
            </a:pPr>
            <a:r>
              <a:rPr lang="en-US" sz="1900" dirty="0">
                <a:solidFill>
                  <a:srgbClr val="17383E"/>
                </a:solidFill>
                <a:latin typeface="Arial" pitchFamily="34" charset="0"/>
                <a:ea typeface="Arial" pitchFamily="34" charset="-122"/>
                <a:cs typeface="Arial" pitchFamily="34" charset="-120"/>
              </a:rPr>
              <a:t>SME collaboration included</a:t>
            </a:r>
            <a:endParaRPr lang="en-US" sz="1900" dirty="0"/>
          </a:p>
          <a:p>
            <a:pPr marL="0" indent="0">
              <a:buNone/>
            </a:pPr>
            <a:r>
              <a:rPr lang="en-US" sz="1900" dirty="0">
                <a:solidFill>
                  <a:srgbClr val="17383E"/>
                </a:solidFill>
                <a:latin typeface="Arial" pitchFamily="34" charset="0"/>
                <a:ea typeface="Arial" pitchFamily="34" charset="-122"/>
                <a:cs typeface="Arial" pitchFamily="34" charset="-120"/>
              </a:rPr>
              <a:t>Later: integrations + onboarding support</a:t>
            </a:r>
            <a:endParaRPr lang="en-US" sz="1900" dirty="0"/>
          </a:p>
        </p:txBody>
      </p:sp>
      <p:sp>
        <p:nvSpPr>
          <p:cNvPr id="11" name="Text 7"/>
          <p:cNvSpPr/>
          <p:nvPr/>
        </p:nvSpPr>
        <p:spPr>
          <a:xfrm>
            <a:off x="6400800" y="2880360"/>
            <a:ext cx="5120640" cy="365760"/>
          </a:xfrm>
          <a:prstGeom prst="rect">
            <a:avLst/>
          </a:prstGeom>
          <a:noFill/>
          <a:ln/>
        </p:spPr>
        <p:txBody>
          <a:bodyPr wrap="square" lIns="0" tIns="0" rIns="0" bIns="0" rtlCol="0" anchor="ctr"/>
          <a:lstStyle/>
          <a:p>
            <a:pPr marL="0" indent="0">
              <a:buNone/>
            </a:pPr>
            <a:r>
              <a:rPr lang="en-US" sz="2400" b="1" dirty="0">
                <a:solidFill>
                  <a:srgbClr val="17383E"/>
                </a:solidFill>
                <a:latin typeface="Arial" pitchFamily="34" charset="0"/>
                <a:ea typeface="Arial" pitchFamily="34" charset="-122"/>
                <a:cs typeface="Arial" pitchFamily="34" charset="-120"/>
              </a:rPr>
              <a:t>The value to validate</a:t>
            </a:r>
            <a:endParaRPr lang="en-US" sz="2400" dirty="0"/>
          </a:p>
        </p:txBody>
      </p:sp>
      <p:sp>
        <p:nvSpPr>
          <p:cNvPr id="12" name="Text 8"/>
          <p:cNvSpPr/>
          <p:nvPr/>
        </p:nvSpPr>
        <p:spPr>
          <a:xfrm>
            <a:off x="6400800" y="3547872"/>
            <a:ext cx="5074920" cy="1115568"/>
          </a:xfrm>
          <a:prstGeom prst="rect">
            <a:avLst/>
          </a:prstGeom>
          <a:noFill/>
          <a:ln/>
        </p:spPr>
        <p:txBody>
          <a:bodyPr wrap="square" lIns="0" tIns="0" rIns="0" bIns="0" rtlCol="0" anchor="ctr"/>
          <a:lstStyle/>
          <a:p>
            <a:pPr marL="0" indent="0">
              <a:buNone/>
            </a:pPr>
            <a:r>
              <a:rPr lang="en-US" sz="2000" dirty="0">
                <a:solidFill>
                  <a:srgbClr val="17383E"/>
                </a:solidFill>
                <a:latin typeface="Arial" pitchFamily="34" charset="0"/>
                <a:ea typeface="Arial" pitchFamily="34" charset="-122"/>
                <a:cs typeface="Arial" pitchFamily="34" charset="-120"/>
              </a:rPr>
              <a:t>Less staff time spent chasing</a:t>
            </a:r>
            <a:endParaRPr lang="en-US" sz="2000" dirty="0"/>
          </a:p>
          <a:p>
            <a:pPr marL="0" indent="0">
              <a:buNone/>
            </a:pPr>
            <a:r>
              <a:rPr lang="en-US" sz="2000" dirty="0">
                <a:solidFill>
                  <a:srgbClr val="17383E"/>
                </a:solidFill>
                <a:latin typeface="Arial" pitchFamily="34" charset="0"/>
                <a:ea typeface="Arial" pitchFamily="34" charset="-122"/>
                <a:cs typeface="Arial" pitchFamily="34" charset="-120"/>
              </a:rPr>
              <a:t>Faster, traceable decisions</a:t>
            </a:r>
            <a:endParaRPr lang="en-US" sz="2000" dirty="0"/>
          </a:p>
          <a:p>
            <a:pPr marL="0" indent="0">
              <a:buNone/>
            </a:pPr>
            <a:r>
              <a:rPr lang="en-US" sz="2000" dirty="0">
                <a:solidFill>
                  <a:srgbClr val="17383E"/>
                </a:solidFill>
                <a:latin typeface="Arial" pitchFamily="34" charset="0"/>
                <a:ea typeface="Arial" pitchFamily="34" charset="-122"/>
                <a:cs typeface="Arial" pitchFamily="34" charset="-120"/>
              </a:rPr>
              <a:t>Clearer communication with SMEs</a:t>
            </a:r>
            <a:endParaRPr lang="en-US" sz="2000" dirty="0"/>
          </a:p>
        </p:txBody>
      </p:sp>
      <p:sp>
        <p:nvSpPr>
          <p:cNvPr id="13" name="Text 9"/>
          <p:cNvSpPr/>
          <p:nvPr/>
        </p:nvSpPr>
        <p:spPr>
          <a:xfrm>
            <a:off x="594360" y="5504688"/>
            <a:ext cx="10972800" cy="365760"/>
          </a:xfrm>
          <a:prstGeom prst="rect">
            <a:avLst/>
          </a:prstGeom>
          <a:noFill/>
          <a:ln/>
        </p:spPr>
        <p:txBody>
          <a:bodyPr wrap="square" lIns="0" tIns="0" rIns="0" bIns="0" rtlCol="0" anchor="ctr"/>
          <a:lstStyle/>
          <a:p>
            <a:pPr marL="0" indent="0">
              <a:buNone/>
            </a:pPr>
            <a:r>
              <a:rPr lang="en-US" sz="2200" b="1" dirty="0">
                <a:solidFill>
                  <a:srgbClr val="17383E"/>
                </a:solidFill>
                <a:latin typeface="Arial" pitchFamily="34" charset="0"/>
                <a:ea typeface="Arial" pitchFamily="34" charset="-122"/>
                <a:cs typeface="Arial" pitchFamily="34" charset="-120"/>
              </a:rPr>
              <a:t>Paying sites × monthly subscription = recurring revenue</a:t>
            </a:r>
            <a:endParaRPr lang="en-US" sz="2200" dirty="0"/>
          </a:p>
        </p:txBody>
      </p:sp>
      <p:sp>
        <p:nvSpPr>
          <p:cNvPr id="14" name="Text 10"/>
          <p:cNvSpPr/>
          <p:nvPr/>
        </p:nvSpPr>
        <p:spPr>
          <a:xfrm>
            <a:off x="594360" y="6071616"/>
            <a:ext cx="10972800" cy="201168"/>
          </a:xfrm>
          <a:prstGeom prst="rect">
            <a:avLst/>
          </a:prstGeom>
          <a:noFill/>
          <a:ln/>
        </p:spPr>
        <p:txBody>
          <a:bodyPr wrap="square" lIns="0" tIns="0" rIns="0" bIns="0" rtlCol="0" anchor="ctr"/>
          <a:lstStyle/>
          <a:p>
            <a:pPr marL="0" indent="0">
              <a:buNone/>
            </a:pPr>
            <a:r>
              <a:rPr lang="en-US" sz="1100" dirty="0">
                <a:solidFill>
                  <a:srgbClr val="567077"/>
                </a:solidFill>
                <a:latin typeface="Arial" pitchFamily="34" charset="0"/>
                <a:ea typeface="Arial" pitchFamily="34" charset="-122"/>
                <a:cs typeface="Arial" pitchFamily="34" charset="-120"/>
              </a:rPr>
              <a:t>Pricing hypothesis · no measured revenue or time-saving claim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Users/witchjenjen/Documents/ChatGPT/FSD/Team-8/public/brand/parcelcare-logo.png"/>
          <p:cNvPicPr>
            <a:picLocks noChangeAspect="1"/>
          </p:cNvPicPr>
          <p:nvPr/>
        </p:nvPicPr>
        <p:blipFill>
          <a:blip r:embed="rId3"/>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marL="0" indent="0">
              <a:buNone/>
            </a:pPr>
            <a:r>
              <a:rPr lang="en-US" sz="1100" b="1" kern="0" spc="140" dirty="0">
                <a:solidFill>
                  <a:srgbClr val="087A86"/>
                </a:solidFill>
                <a:latin typeface="Arial" pitchFamily="34" charset="0"/>
                <a:ea typeface="Arial" pitchFamily="34" charset="-122"/>
                <a:cs typeface="Arial" pitchFamily="34" charset="-120"/>
              </a:rPr>
              <a:t>PROPOSED 12-MONTH ROADMAP</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marL="0" indent="0">
              <a:buNone/>
            </a:pPr>
            <a:r>
              <a:rPr lang="en-US" sz="3400" b="1" dirty="0">
                <a:solidFill>
                  <a:srgbClr val="17383E"/>
                </a:solidFill>
                <a:latin typeface="Arial" pitchFamily="34" charset="0"/>
                <a:ea typeface="Arial" pitchFamily="34" charset="-122"/>
                <a:cs typeface="Arial" pitchFamily="34" charset="-120"/>
              </a:rPr>
              <a:t>Prove value first. Expand next.</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marL="0" indent="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marL="0" indent="0" algn="r">
              <a:buNone/>
            </a:pPr>
            <a:r>
              <a:rPr lang="en-US" sz="1000" dirty="0">
                <a:solidFill>
                  <a:srgbClr val="567077"/>
                </a:solidFill>
                <a:latin typeface="Arial" pitchFamily="34" charset="0"/>
                <a:ea typeface="Arial" pitchFamily="34" charset="-122"/>
                <a:cs typeface="Arial" pitchFamily="34" charset="-120"/>
              </a:rPr>
              <a:t>06 / 07</a:t>
            </a:r>
            <a:endParaRPr lang="en-US" sz="1000" dirty="0"/>
          </a:p>
        </p:txBody>
      </p:sp>
      <p:sp>
        <p:nvSpPr>
          <p:cNvPr id="8" name="Shape 4"/>
          <p:cNvSpPr/>
          <p:nvPr/>
        </p:nvSpPr>
        <p:spPr>
          <a:xfrm>
            <a:off x="594360" y="2743200"/>
            <a:ext cx="3474720" cy="2468880"/>
          </a:xfrm>
          <a:prstGeom prst="roundRect">
            <a:avLst>
              <a:gd name="adj" fmla="val 4444"/>
            </a:avLst>
          </a:prstGeom>
          <a:solidFill>
            <a:srgbClr val="F5F8F9"/>
          </a:solidFill>
          <a:ln w="10160">
            <a:solidFill>
              <a:srgbClr val="F5F8F9"/>
            </a:solidFill>
            <a:prstDash val="solid"/>
          </a:ln>
        </p:spPr>
      </p:sp>
      <p:sp>
        <p:nvSpPr>
          <p:cNvPr id="9" name="Text 5"/>
          <p:cNvSpPr/>
          <p:nvPr/>
        </p:nvSpPr>
        <p:spPr>
          <a:xfrm>
            <a:off x="822960" y="3017520"/>
            <a:ext cx="3017520" cy="256032"/>
          </a:xfrm>
          <a:prstGeom prst="rect">
            <a:avLst/>
          </a:prstGeom>
          <a:noFill/>
          <a:ln/>
        </p:spPr>
        <p:txBody>
          <a:bodyPr wrap="square" lIns="0" tIns="0" rIns="0" bIns="0" rtlCol="0" anchor="ctr"/>
          <a:lstStyle/>
          <a:p>
            <a:pPr marL="0" indent="0">
              <a:buNone/>
            </a:pPr>
            <a:r>
              <a:rPr lang="en-US" sz="1200" b="1" dirty="0">
                <a:solidFill>
                  <a:srgbClr val="087A86"/>
                </a:solidFill>
                <a:latin typeface="Arial" pitchFamily="34" charset="0"/>
                <a:ea typeface="Arial" pitchFamily="34" charset="-122"/>
                <a:cs typeface="Arial" pitchFamily="34" charset="-120"/>
              </a:rPr>
              <a:t>MONTHS 1–3</a:t>
            </a:r>
            <a:endParaRPr lang="en-US" sz="1200" dirty="0"/>
          </a:p>
        </p:txBody>
      </p:sp>
      <p:sp>
        <p:nvSpPr>
          <p:cNvPr id="10" name="Text 6"/>
          <p:cNvSpPr/>
          <p:nvPr/>
        </p:nvSpPr>
        <p:spPr>
          <a:xfrm>
            <a:off x="822960" y="3566160"/>
            <a:ext cx="3017520" cy="438912"/>
          </a:xfrm>
          <a:prstGeom prst="rect">
            <a:avLst/>
          </a:prstGeom>
          <a:noFill/>
          <a:ln/>
        </p:spPr>
        <p:txBody>
          <a:bodyPr wrap="square" lIns="0" tIns="0" rIns="0" bIns="0" rtlCol="0" anchor="ctr"/>
          <a:lstStyle/>
          <a:p>
            <a:pPr marL="0" indent="0">
              <a:buNone/>
            </a:pPr>
            <a:r>
              <a:rPr lang="en-US" sz="2900" b="1" dirty="0">
                <a:solidFill>
                  <a:srgbClr val="17383E"/>
                </a:solidFill>
                <a:latin typeface="Arial" pitchFamily="34" charset="0"/>
                <a:ea typeface="Arial" pitchFamily="34" charset="-122"/>
                <a:cs typeface="Arial" pitchFamily="34" charset="-120"/>
              </a:rPr>
              <a:t>Validate</a:t>
            </a:r>
            <a:endParaRPr lang="en-US" sz="2900" dirty="0"/>
          </a:p>
        </p:txBody>
      </p:sp>
      <p:sp>
        <p:nvSpPr>
          <p:cNvPr id="11" name="Text 7"/>
          <p:cNvSpPr/>
          <p:nvPr/>
        </p:nvSpPr>
        <p:spPr>
          <a:xfrm>
            <a:off x="822960" y="4251960"/>
            <a:ext cx="2971800" cy="548640"/>
          </a:xfrm>
          <a:prstGeom prst="rect">
            <a:avLst/>
          </a:prstGeom>
          <a:noFill/>
          <a:ln/>
        </p:spPr>
        <p:txBody>
          <a:bodyPr wrap="square" lIns="0" tIns="0" rIns="0" bIns="0" rtlCol="0" anchor="ctr"/>
          <a:lstStyle/>
          <a:p>
            <a:pPr marL="0" indent="0">
              <a:buNone/>
            </a:pPr>
            <a:r>
              <a:rPr lang="en-US" sz="1400" dirty="0">
                <a:solidFill>
                  <a:srgbClr val="567077"/>
                </a:solidFill>
                <a:latin typeface="Arial" pitchFamily="34" charset="0"/>
                <a:ea typeface="Arial" pitchFamily="34" charset="-122"/>
                <a:cs typeface="Arial" pitchFamily="34" charset="-120"/>
              </a:rPr>
              <a:t>Interviews + pilot partner</a:t>
            </a:r>
            <a:endParaRPr lang="en-US" sz="1400" dirty="0"/>
          </a:p>
          <a:p>
            <a:pPr marL="0" indent="0">
              <a:buNone/>
            </a:pPr>
            <a:r>
              <a:rPr lang="en-US" sz="1400" dirty="0">
                <a:solidFill>
                  <a:srgbClr val="567077"/>
                </a:solidFill>
                <a:latin typeface="Arial" pitchFamily="34" charset="0"/>
                <a:ea typeface="Arial" pitchFamily="34" charset="-122"/>
                <a:cs typeface="Arial" pitchFamily="34" charset="-120"/>
              </a:rPr>
              <a:t>Baseline handling time</a:t>
            </a:r>
            <a:endParaRPr lang="en-US" sz="1400" dirty="0"/>
          </a:p>
        </p:txBody>
      </p:sp>
      <p:sp>
        <p:nvSpPr>
          <p:cNvPr id="12" name="Shape 8"/>
          <p:cNvSpPr/>
          <p:nvPr/>
        </p:nvSpPr>
        <p:spPr>
          <a:xfrm>
            <a:off x="4434840" y="2743200"/>
            <a:ext cx="3474720" cy="2468880"/>
          </a:xfrm>
          <a:prstGeom prst="roundRect">
            <a:avLst>
              <a:gd name="adj" fmla="val 4444"/>
            </a:avLst>
          </a:prstGeom>
          <a:solidFill>
            <a:srgbClr val="F5F8F9"/>
          </a:solidFill>
          <a:ln w="10160">
            <a:solidFill>
              <a:srgbClr val="F5F8F9"/>
            </a:solidFill>
            <a:prstDash val="solid"/>
          </a:ln>
        </p:spPr>
      </p:sp>
      <p:sp>
        <p:nvSpPr>
          <p:cNvPr id="13" name="Text 9"/>
          <p:cNvSpPr/>
          <p:nvPr/>
        </p:nvSpPr>
        <p:spPr>
          <a:xfrm>
            <a:off x="4663440" y="3017520"/>
            <a:ext cx="3017520" cy="256032"/>
          </a:xfrm>
          <a:prstGeom prst="rect">
            <a:avLst/>
          </a:prstGeom>
          <a:noFill/>
          <a:ln/>
        </p:spPr>
        <p:txBody>
          <a:bodyPr wrap="square" lIns="0" tIns="0" rIns="0" bIns="0" rtlCol="0" anchor="ctr"/>
          <a:lstStyle/>
          <a:p>
            <a:pPr marL="0" indent="0">
              <a:buNone/>
            </a:pPr>
            <a:r>
              <a:rPr lang="en-US" sz="1200" b="1" dirty="0">
                <a:solidFill>
                  <a:srgbClr val="087A86"/>
                </a:solidFill>
                <a:latin typeface="Arial" pitchFamily="34" charset="0"/>
                <a:ea typeface="Arial" pitchFamily="34" charset="-122"/>
                <a:cs typeface="Arial" pitchFamily="34" charset="-120"/>
              </a:rPr>
              <a:t>MONTHS 4–6</a:t>
            </a:r>
            <a:endParaRPr lang="en-US" sz="1200" dirty="0"/>
          </a:p>
        </p:txBody>
      </p:sp>
      <p:sp>
        <p:nvSpPr>
          <p:cNvPr id="14" name="Text 10"/>
          <p:cNvSpPr/>
          <p:nvPr/>
        </p:nvSpPr>
        <p:spPr>
          <a:xfrm>
            <a:off x="4663440" y="3566160"/>
            <a:ext cx="3017520" cy="438912"/>
          </a:xfrm>
          <a:prstGeom prst="rect">
            <a:avLst/>
          </a:prstGeom>
          <a:noFill/>
          <a:ln/>
        </p:spPr>
        <p:txBody>
          <a:bodyPr wrap="square" lIns="0" tIns="0" rIns="0" bIns="0" rtlCol="0" anchor="ctr"/>
          <a:lstStyle/>
          <a:p>
            <a:pPr marL="0" indent="0">
              <a:buNone/>
            </a:pPr>
            <a:r>
              <a:rPr lang="en-US" sz="2900" b="1" dirty="0">
                <a:solidFill>
                  <a:srgbClr val="17383E"/>
                </a:solidFill>
                <a:latin typeface="Arial" pitchFamily="34" charset="0"/>
                <a:ea typeface="Arial" pitchFamily="34" charset="-122"/>
                <a:cs typeface="Arial" pitchFamily="34" charset="-120"/>
              </a:rPr>
              <a:t>Prove</a:t>
            </a:r>
            <a:endParaRPr lang="en-US" sz="2900" dirty="0"/>
          </a:p>
        </p:txBody>
      </p:sp>
      <p:sp>
        <p:nvSpPr>
          <p:cNvPr id="15" name="Text 11"/>
          <p:cNvSpPr/>
          <p:nvPr/>
        </p:nvSpPr>
        <p:spPr>
          <a:xfrm>
            <a:off x="4663440" y="4251960"/>
            <a:ext cx="2971800" cy="548640"/>
          </a:xfrm>
          <a:prstGeom prst="rect">
            <a:avLst/>
          </a:prstGeom>
          <a:noFill/>
          <a:ln/>
        </p:spPr>
        <p:txBody>
          <a:bodyPr wrap="square" lIns="0" tIns="0" rIns="0" bIns="0" rtlCol="0" anchor="ctr"/>
          <a:lstStyle/>
          <a:p>
            <a:pPr marL="0" indent="0">
              <a:buNone/>
            </a:pPr>
            <a:r>
              <a:rPr lang="en-US" sz="1400" dirty="0">
                <a:solidFill>
                  <a:srgbClr val="567077"/>
                </a:solidFill>
                <a:latin typeface="Arial" pitchFamily="34" charset="0"/>
                <a:ea typeface="Arial" pitchFamily="34" charset="-122"/>
                <a:cs typeface="Arial" pitchFamily="34" charset="-120"/>
              </a:rPr>
              <a:t>Pilot feedback + iteration</a:t>
            </a:r>
            <a:endParaRPr lang="en-US" sz="1400" dirty="0"/>
          </a:p>
          <a:p>
            <a:pPr marL="0" indent="0">
              <a:buNone/>
            </a:pPr>
            <a:r>
              <a:rPr lang="en-US" sz="1400" dirty="0">
                <a:solidFill>
                  <a:srgbClr val="567077"/>
                </a:solidFill>
                <a:latin typeface="Arial" pitchFamily="34" charset="0"/>
                <a:ea typeface="Arial" pitchFamily="34" charset="-122"/>
                <a:cs typeface="Arial" pitchFamily="34" charset="-120"/>
              </a:rPr>
              <a:t>Resolution time + willingness to pay</a:t>
            </a:r>
            <a:endParaRPr lang="en-US" sz="1400" dirty="0"/>
          </a:p>
        </p:txBody>
      </p:sp>
      <p:sp>
        <p:nvSpPr>
          <p:cNvPr id="16" name="Shape 12"/>
          <p:cNvSpPr/>
          <p:nvPr/>
        </p:nvSpPr>
        <p:spPr>
          <a:xfrm>
            <a:off x="8275320" y="2743200"/>
            <a:ext cx="3474720" cy="2468880"/>
          </a:xfrm>
          <a:prstGeom prst="roundRect">
            <a:avLst>
              <a:gd name="adj" fmla="val 4444"/>
            </a:avLst>
          </a:prstGeom>
          <a:solidFill>
            <a:srgbClr val="FFF5D7"/>
          </a:solidFill>
          <a:ln w="10160">
            <a:solidFill>
              <a:srgbClr val="FFF5D7"/>
            </a:solidFill>
            <a:prstDash val="solid"/>
          </a:ln>
        </p:spPr>
      </p:sp>
      <p:sp>
        <p:nvSpPr>
          <p:cNvPr id="17" name="Text 13"/>
          <p:cNvSpPr/>
          <p:nvPr/>
        </p:nvSpPr>
        <p:spPr>
          <a:xfrm>
            <a:off x="8503920" y="3017520"/>
            <a:ext cx="3017520" cy="256032"/>
          </a:xfrm>
          <a:prstGeom prst="rect">
            <a:avLst/>
          </a:prstGeom>
          <a:noFill/>
          <a:ln/>
        </p:spPr>
        <p:txBody>
          <a:bodyPr wrap="square" lIns="0" tIns="0" rIns="0" bIns="0" rtlCol="0" anchor="ctr"/>
          <a:lstStyle/>
          <a:p>
            <a:pPr marL="0" indent="0">
              <a:buNone/>
            </a:pPr>
            <a:r>
              <a:rPr lang="en-US" sz="1200" b="1" dirty="0">
                <a:solidFill>
                  <a:srgbClr val="087A86"/>
                </a:solidFill>
                <a:latin typeface="Arial" pitchFamily="34" charset="0"/>
                <a:ea typeface="Arial" pitchFamily="34" charset="-122"/>
                <a:cs typeface="Arial" pitchFamily="34" charset="-120"/>
              </a:rPr>
              <a:t>MONTHS 7–12</a:t>
            </a:r>
            <a:endParaRPr lang="en-US" sz="1200" dirty="0"/>
          </a:p>
        </p:txBody>
      </p:sp>
      <p:sp>
        <p:nvSpPr>
          <p:cNvPr id="18" name="Text 14"/>
          <p:cNvSpPr/>
          <p:nvPr/>
        </p:nvSpPr>
        <p:spPr>
          <a:xfrm>
            <a:off x="8503920" y="3566160"/>
            <a:ext cx="3017520" cy="438912"/>
          </a:xfrm>
          <a:prstGeom prst="rect">
            <a:avLst/>
          </a:prstGeom>
          <a:noFill/>
          <a:ln/>
        </p:spPr>
        <p:txBody>
          <a:bodyPr wrap="square" lIns="0" tIns="0" rIns="0" bIns="0" rtlCol="0" anchor="ctr"/>
          <a:lstStyle/>
          <a:p>
            <a:pPr marL="0" indent="0">
              <a:buNone/>
            </a:pPr>
            <a:r>
              <a:rPr lang="en-US" sz="2900" b="1" dirty="0">
                <a:solidFill>
                  <a:srgbClr val="17383E"/>
                </a:solidFill>
                <a:latin typeface="Arial" pitchFamily="34" charset="0"/>
                <a:ea typeface="Arial" pitchFamily="34" charset="-122"/>
                <a:cs typeface="Arial" pitchFamily="34" charset="-120"/>
              </a:rPr>
              <a:t>Grow</a:t>
            </a:r>
            <a:endParaRPr lang="en-US" sz="2900" dirty="0"/>
          </a:p>
        </p:txBody>
      </p:sp>
      <p:sp>
        <p:nvSpPr>
          <p:cNvPr id="19" name="Text 15"/>
          <p:cNvSpPr/>
          <p:nvPr/>
        </p:nvSpPr>
        <p:spPr>
          <a:xfrm>
            <a:off x="8503920" y="4251960"/>
            <a:ext cx="2971800" cy="548640"/>
          </a:xfrm>
          <a:prstGeom prst="rect">
            <a:avLst/>
          </a:prstGeom>
          <a:noFill/>
          <a:ln/>
        </p:spPr>
        <p:txBody>
          <a:bodyPr wrap="square" lIns="0" tIns="0" rIns="0" bIns="0" rtlCol="0" anchor="ctr"/>
          <a:lstStyle/>
          <a:p>
            <a:pPr marL="0" indent="0">
              <a:buNone/>
            </a:pPr>
            <a:r>
              <a:rPr lang="en-US" sz="1400" dirty="0">
                <a:solidFill>
                  <a:srgbClr val="567077"/>
                </a:solidFill>
                <a:latin typeface="Arial" pitchFamily="34" charset="0"/>
                <a:ea typeface="Arial" pitchFamily="34" charset="-122"/>
                <a:cs typeface="Arial" pitchFamily="34" charset="-120"/>
              </a:rPr>
              <a:t>Paid sites + operator referrals</a:t>
            </a:r>
            <a:endParaRPr lang="en-US" sz="1400" dirty="0"/>
          </a:p>
          <a:p>
            <a:pPr marL="0" indent="0">
              <a:buNone/>
            </a:pPr>
            <a:r>
              <a:rPr lang="en-US" sz="1400" dirty="0">
                <a:solidFill>
                  <a:srgbClr val="567077"/>
                </a:solidFill>
                <a:latin typeface="Arial" pitchFamily="34" charset="0"/>
                <a:ea typeface="Arial" pitchFamily="34" charset="-122"/>
                <a:cs typeface="Arial" pitchFamily="34" charset="-120"/>
              </a:rPr>
              <a:t>Targeted demos + partnerships</a:t>
            </a:r>
            <a:endParaRPr lang="en-US" sz="1400" dirty="0"/>
          </a:p>
        </p:txBody>
      </p:sp>
      <p:sp>
        <p:nvSpPr>
          <p:cNvPr id="20" name="Text 16"/>
          <p:cNvSpPr/>
          <p:nvPr/>
        </p:nvSpPr>
        <p:spPr>
          <a:xfrm>
            <a:off x="594360" y="5504688"/>
            <a:ext cx="1920240" cy="274320"/>
          </a:xfrm>
          <a:prstGeom prst="rect">
            <a:avLst/>
          </a:prstGeom>
          <a:noFill/>
          <a:ln/>
        </p:spPr>
        <p:txBody>
          <a:bodyPr wrap="square" lIns="0" tIns="0" rIns="0" bIns="0" rtlCol="0" anchor="ctr"/>
          <a:lstStyle/>
          <a:p>
            <a:pPr marL="0" indent="0">
              <a:buNone/>
            </a:pPr>
            <a:r>
              <a:rPr lang="en-US" sz="1700" b="1" dirty="0">
                <a:solidFill>
                  <a:srgbClr val="17383E"/>
                </a:solidFill>
                <a:latin typeface="Arial" pitchFamily="34" charset="0"/>
                <a:ea typeface="Arial" pitchFamily="34" charset="-122"/>
                <a:cs typeface="Arial" pitchFamily="34" charset="-120"/>
              </a:rPr>
              <a:t>Measure monthly</a:t>
            </a:r>
            <a:endParaRPr lang="en-US" sz="1700" dirty="0"/>
          </a:p>
        </p:txBody>
      </p:sp>
      <p:sp>
        <p:nvSpPr>
          <p:cNvPr id="21" name="Text 17"/>
          <p:cNvSpPr/>
          <p:nvPr/>
        </p:nvSpPr>
        <p:spPr>
          <a:xfrm>
            <a:off x="2651760" y="5513832"/>
            <a:ext cx="8778240" cy="484632"/>
          </a:xfrm>
          <a:prstGeom prst="rect">
            <a:avLst/>
          </a:prstGeom>
          <a:noFill/>
          <a:ln/>
        </p:spPr>
        <p:txBody>
          <a:bodyPr wrap="square" lIns="0" tIns="0" rIns="0" bIns="0" rtlCol="0" anchor="ctr"/>
          <a:lstStyle/>
          <a:p>
            <a:pPr marL="0" indent="0">
              <a:buNone/>
            </a:pPr>
            <a:r>
              <a:rPr lang="en-US" sz="1400" dirty="0">
                <a:solidFill>
                  <a:srgbClr val="567077"/>
                </a:solidFill>
                <a:latin typeface="Arial" pitchFamily="34" charset="0"/>
                <a:ea typeface="Arial" pitchFamily="34" charset="-122"/>
                <a:cs typeface="Arial" pitchFamily="34" charset="-120"/>
              </a:rPr>
              <a:t>Active sites · staff engagement · resolution time · SME confirmation · paid conversion · support effort</a:t>
            </a:r>
            <a:endParaRPr lang="en-US" sz="1400" dirty="0"/>
          </a:p>
        </p:txBody>
      </p:sp>
      <p:sp>
        <p:nvSpPr>
          <p:cNvPr id="22" name="Text 18"/>
          <p:cNvSpPr/>
          <p:nvPr/>
        </p:nvSpPr>
        <p:spPr>
          <a:xfrm>
            <a:off x="594360" y="6135624"/>
            <a:ext cx="10972800" cy="182880"/>
          </a:xfrm>
          <a:prstGeom prst="rect">
            <a:avLst/>
          </a:prstGeom>
          <a:noFill/>
          <a:ln/>
        </p:spPr>
        <p:txBody>
          <a:bodyPr wrap="square" lIns="0" tIns="0" rIns="0" bIns="0" rtlCol="0" anchor="ctr"/>
          <a:lstStyle/>
          <a:p>
            <a:pPr marL="0" indent="0">
              <a:buNone/>
            </a:pPr>
            <a:r>
              <a:rPr lang="en-US" sz="1000" dirty="0">
                <a:solidFill>
                  <a:srgbClr val="567077"/>
                </a:solidFill>
                <a:latin typeface="Arial" pitchFamily="34" charset="0"/>
                <a:ea typeface="Arial" pitchFamily="34" charset="-122"/>
                <a:cs typeface="Arial" pitchFamily="34" charset="-120"/>
              </a:rPr>
              <a:t>Research targets · not achieved traction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Users/witchjenjen/Documents/ChatGPT/FSD/Team-8/public/brand/parcelcare-logo.png"/>
          <p:cNvPicPr>
            <a:picLocks noChangeAspect="1"/>
          </p:cNvPicPr>
          <p:nvPr/>
        </p:nvPicPr>
        <p:blipFill>
          <a:blip r:embed="rId3"/>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marL="0" indent="0">
              <a:buNone/>
            </a:pPr>
            <a:r>
              <a:rPr lang="en-US" sz="1100" b="1" kern="0" spc="140" dirty="0">
                <a:solidFill>
                  <a:srgbClr val="087A86"/>
                </a:solidFill>
                <a:latin typeface="Arial" pitchFamily="34" charset="0"/>
                <a:ea typeface="Arial" pitchFamily="34" charset="-122"/>
                <a:cs typeface="Arial" pitchFamily="34" charset="-120"/>
              </a:rPr>
              <a:t>THE OUTCOME + OUR ASK</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marL="0" indent="0">
              <a:buNone/>
            </a:pPr>
            <a:r>
              <a:rPr lang="en-US" sz="3400" b="1" dirty="0">
                <a:solidFill>
                  <a:srgbClr val="17383E"/>
                </a:solidFill>
                <a:latin typeface="Arial" pitchFamily="34" charset="0"/>
                <a:ea typeface="Arial" pitchFamily="34" charset="-122"/>
                <a:cs typeface="Arial" pitchFamily="34" charset="-120"/>
              </a:rPr>
              <a:t>Less chasing.</a:t>
            </a:r>
            <a:endParaRPr lang="en-US" sz="3400" dirty="0"/>
          </a:p>
          <a:p>
            <a:pPr marL="0" indent="0">
              <a:buNone/>
            </a:pPr>
            <a:r>
              <a:rPr lang="en-US" sz="3400" b="1" dirty="0">
                <a:solidFill>
                  <a:srgbClr val="17383E"/>
                </a:solidFill>
                <a:latin typeface="Arial" pitchFamily="34" charset="0"/>
                <a:ea typeface="Arial" pitchFamily="34" charset="-122"/>
                <a:cs typeface="Arial" pitchFamily="34" charset="-120"/>
              </a:rPr>
              <a:t>Clearer accountability.</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marL="0" indent="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marL="0" indent="0" algn="r">
              <a:buNone/>
            </a:pPr>
            <a:r>
              <a:rPr lang="en-US" sz="1000" dirty="0">
                <a:solidFill>
                  <a:srgbClr val="567077"/>
                </a:solidFill>
                <a:latin typeface="Arial" pitchFamily="34" charset="0"/>
                <a:ea typeface="Arial" pitchFamily="34" charset="-122"/>
                <a:cs typeface="Arial" pitchFamily="34" charset="-120"/>
              </a:rPr>
              <a:t>07 / 07</a:t>
            </a:r>
            <a:endParaRPr lang="en-US" sz="1000" dirty="0"/>
          </a:p>
        </p:txBody>
      </p:sp>
      <p:sp>
        <p:nvSpPr>
          <p:cNvPr id="8" name="Shape 4"/>
          <p:cNvSpPr/>
          <p:nvPr/>
        </p:nvSpPr>
        <p:spPr>
          <a:xfrm>
            <a:off x="594360" y="2852928"/>
            <a:ext cx="5212080" cy="2057400"/>
          </a:xfrm>
          <a:prstGeom prst="roundRect">
            <a:avLst>
              <a:gd name="adj" fmla="val 5333"/>
            </a:avLst>
          </a:prstGeom>
          <a:solidFill>
            <a:srgbClr val="F5F8F9"/>
          </a:solidFill>
          <a:ln w="10160">
            <a:solidFill>
              <a:srgbClr val="F5F8F9"/>
            </a:solidFill>
            <a:prstDash val="solid"/>
          </a:ln>
        </p:spPr>
      </p:sp>
      <p:sp>
        <p:nvSpPr>
          <p:cNvPr id="9" name="Text 5"/>
          <p:cNvSpPr/>
          <p:nvPr/>
        </p:nvSpPr>
        <p:spPr>
          <a:xfrm>
            <a:off x="896112" y="3154680"/>
            <a:ext cx="4572000" cy="219456"/>
          </a:xfrm>
          <a:prstGeom prst="rect">
            <a:avLst/>
          </a:prstGeom>
          <a:noFill/>
          <a:ln/>
        </p:spPr>
        <p:txBody>
          <a:bodyPr wrap="square" lIns="0" tIns="0" rIns="0" bIns="0" rtlCol="0" anchor="ctr"/>
          <a:lstStyle/>
          <a:p>
            <a:pPr marL="0" indent="0">
              <a:buNone/>
            </a:pPr>
            <a:r>
              <a:rPr lang="en-US" sz="1200" b="1" dirty="0">
                <a:solidFill>
                  <a:srgbClr val="567077"/>
                </a:solidFill>
                <a:latin typeface="Arial" pitchFamily="34" charset="0"/>
                <a:ea typeface="Arial" pitchFamily="34" charset="-122"/>
                <a:cs typeface="Arial" pitchFamily="34" charset="-120"/>
              </a:rPr>
              <a:t>BEFORE</a:t>
            </a:r>
            <a:endParaRPr lang="en-US" sz="1200" dirty="0"/>
          </a:p>
        </p:txBody>
      </p:sp>
      <p:sp>
        <p:nvSpPr>
          <p:cNvPr id="10" name="Text 6"/>
          <p:cNvSpPr/>
          <p:nvPr/>
        </p:nvSpPr>
        <p:spPr>
          <a:xfrm>
            <a:off x="896112" y="3657600"/>
            <a:ext cx="4590288" cy="960120"/>
          </a:xfrm>
          <a:prstGeom prst="rect">
            <a:avLst/>
          </a:prstGeom>
          <a:noFill/>
          <a:ln/>
        </p:spPr>
        <p:txBody>
          <a:bodyPr wrap="square" lIns="0" tIns="0" rIns="0" bIns="0" rtlCol="0" anchor="ctr"/>
          <a:lstStyle/>
          <a:p>
            <a:pPr marL="0" indent="0">
              <a:buNone/>
            </a:pPr>
            <a:r>
              <a:rPr lang="en-US" sz="2100" dirty="0">
                <a:solidFill>
                  <a:srgbClr val="17383E"/>
                </a:solidFill>
                <a:latin typeface="Arial" pitchFamily="34" charset="0"/>
                <a:ea typeface="Arial" pitchFamily="34" charset="-122"/>
                <a:cs typeface="Arial" pitchFamily="34" charset="-120"/>
              </a:rPr>
              <a:t>Scattered messages</a:t>
            </a:r>
            <a:endParaRPr lang="en-US" sz="2100" dirty="0"/>
          </a:p>
          <a:p>
            <a:pPr marL="0" indent="0">
              <a:buNone/>
            </a:pPr>
            <a:r>
              <a:rPr lang="en-US" sz="2100" dirty="0">
                <a:solidFill>
                  <a:srgbClr val="17383E"/>
                </a:solidFill>
                <a:latin typeface="Arial" pitchFamily="34" charset="0"/>
                <a:ea typeface="Arial" pitchFamily="34" charset="-122"/>
                <a:cs typeface="Arial" pitchFamily="34" charset="-120"/>
              </a:rPr>
              <a:t>Unclear ownership</a:t>
            </a:r>
            <a:endParaRPr lang="en-US" sz="2100" dirty="0"/>
          </a:p>
          <a:p>
            <a:pPr marL="0" indent="0">
              <a:buNone/>
            </a:pPr>
            <a:r>
              <a:rPr lang="en-US" sz="2100" dirty="0">
                <a:solidFill>
                  <a:srgbClr val="17383E"/>
                </a:solidFill>
                <a:latin typeface="Arial" pitchFamily="34" charset="0"/>
                <a:ea typeface="Arial" pitchFamily="34" charset="-122"/>
                <a:cs typeface="Arial" pitchFamily="34" charset="-120"/>
              </a:rPr>
              <a:t>Repeated follow-ups</a:t>
            </a:r>
            <a:endParaRPr lang="en-US" sz="2100" dirty="0"/>
          </a:p>
        </p:txBody>
      </p:sp>
      <p:sp>
        <p:nvSpPr>
          <p:cNvPr id="11" name="Shape 7"/>
          <p:cNvSpPr/>
          <p:nvPr/>
        </p:nvSpPr>
        <p:spPr>
          <a:xfrm>
            <a:off x="6080760" y="2852928"/>
            <a:ext cx="5440680" cy="2057400"/>
          </a:xfrm>
          <a:prstGeom prst="roundRect">
            <a:avLst>
              <a:gd name="adj" fmla="val 5333"/>
            </a:avLst>
          </a:prstGeom>
          <a:solidFill>
            <a:srgbClr val="EAF9FA"/>
          </a:solidFill>
          <a:ln w="10160">
            <a:solidFill>
              <a:srgbClr val="EAF9FA"/>
            </a:solidFill>
            <a:prstDash val="solid"/>
          </a:ln>
        </p:spPr>
      </p:sp>
      <p:sp>
        <p:nvSpPr>
          <p:cNvPr id="12" name="Text 8"/>
          <p:cNvSpPr/>
          <p:nvPr/>
        </p:nvSpPr>
        <p:spPr>
          <a:xfrm>
            <a:off x="6382512" y="3154680"/>
            <a:ext cx="4800600" cy="219456"/>
          </a:xfrm>
          <a:prstGeom prst="rect">
            <a:avLst/>
          </a:prstGeom>
          <a:noFill/>
          <a:ln/>
        </p:spPr>
        <p:txBody>
          <a:bodyPr wrap="square" lIns="0" tIns="0" rIns="0" bIns="0" rtlCol="0" anchor="ctr"/>
          <a:lstStyle/>
          <a:p>
            <a:pPr marL="0" indent="0">
              <a:buNone/>
            </a:pPr>
            <a:r>
              <a:rPr lang="en-US" sz="1200" b="1" dirty="0">
                <a:solidFill>
                  <a:srgbClr val="087A86"/>
                </a:solidFill>
                <a:latin typeface="Arial" pitchFamily="34" charset="0"/>
                <a:ea typeface="Arial" pitchFamily="34" charset="-122"/>
                <a:cs typeface="Arial" pitchFamily="34" charset="-120"/>
              </a:rPr>
              <a:t>AFTER</a:t>
            </a:r>
            <a:endParaRPr lang="en-US" sz="1200" dirty="0"/>
          </a:p>
        </p:txBody>
      </p:sp>
      <p:sp>
        <p:nvSpPr>
          <p:cNvPr id="13" name="Text 9"/>
          <p:cNvSpPr/>
          <p:nvPr/>
        </p:nvSpPr>
        <p:spPr>
          <a:xfrm>
            <a:off x="6382512" y="3657600"/>
            <a:ext cx="4800600" cy="960120"/>
          </a:xfrm>
          <a:prstGeom prst="rect">
            <a:avLst/>
          </a:prstGeom>
          <a:noFill/>
          <a:ln/>
        </p:spPr>
        <p:txBody>
          <a:bodyPr wrap="square" lIns="0" tIns="0" rIns="0" bIns="0" rtlCol="0" anchor="ctr"/>
          <a:lstStyle/>
          <a:p>
            <a:pPr marL="0" indent="0">
              <a:buNone/>
            </a:pPr>
            <a:r>
              <a:rPr lang="en-US" sz="2100" dirty="0">
                <a:solidFill>
                  <a:srgbClr val="17383E"/>
                </a:solidFill>
                <a:latin typeface="Arial" pitchFamily="34" charset="0"/>
                <a:ea typeface="Arial" pitchFamily="34" charset="-122"/>
                <a:cs typeface="Arial" pitchFamily="34" charset="-120"/>
              </a:rPr>
              <a:t>One case + visible evidence</a:t>
            </a:r>
            <a:endParaRPr lang="en-US" sz="2100" dirty="0"/>
          </a:p>
          <a:p>
            <a:pPr marL="0" indent="0">
              <a:buNone/>
            </a:pPr>
            <a:r>
              <a:rPr lang="en-US" sz="2100" dirty="0">
                <a:solidFill>
                  <a:srgbClr val="17383E"/>
                </a:solidFill>
                <a:latin typeface="Arial" pitchFamily="34" charset="0"/>
                <a:ea typeface="Arial" pitchFamily="34" charset="-122"/>
                <a:cs typeface="Arial" pitchFamily="34" charset="-120"/>
              </a:rPr>
              <a:t>Assigned responsibility</a:t>
            </a:r>
            <a:endParaRPr lang="en-US" sz="2100" dirty="0"/>
          </a:p>
          <a:p>
            <a:pPr marL="0" indent="0">
              <a:buNone/>
            </a:pPr>
            <a:r>
              <a:rPr lang="en-US" sz="2100" dirty="0">
                <a:solidFill>
                  <a:srgbClr val="17383E"/>
                </a:solidFill>
                <a:latin typeface="Arial" pitchFamily="34" charset="0"/>
                <a:ea typeface="Arial" pitchFamily="34" charset="-122"/>
                <a:cs typeface="Arial" pitchFamily="34" charset="-120"/>
              </a:rPr>
              <a:t>Recorded confirmation</a:t>
            </a:r>
            <a:endParaRPr lang="en-US" sz="2100" dirty="0"/>
          </a:p>
        </p:txBody>
      </p:sp>
      <p:sp>
        <p:nvSpPr>
          <p:cNvPr id="14" name="Text 10"/>
          <p:cNvSpPr/>
          <p:nvPr/>
        </p:nvSpPr>
        <p:spPr>
          <a:xfrm>
            <a:off x="594360" y="5404104"/>
            <a:ext cx="10789920" cy="475488"/>
          </a:xfrm>
          <a:prstGeom prst="rect">
            <a:avLst/>
          </a:prstGeom>
          <a:noFill/>
          <a:ln/>
        </p:spPr>
        <p:txBody>
          <a:bodyPr wrap="square" lIns="0" tIns="0" rIns="0" bIns="0" rtlCol="0" anchor="ctr"/>
          <a:lstStyle/>
          <a:p>
            <a:pPr marL="0" indent="0">
              <a:buNone/>
            </a:pPr>
            <a:r>
              <a:rPr lang="en-US" sz="2800" b="1" dirty="0">
                <a:solidFill>
                  <a:srgbClr val="087A86"/>
                </a:solidFill>
                <a:latin typeface="Arial" pitchFamily="34" charset="0"/>
                <a:ea typeface="Arial" pitchFamily="34" charset="-122"/>
                <a:cs typeface="Arial" pitchFamily="34" charset="-120"/>
              </a:rPr>
              <a:t>Seeking warehouse pilot partners</a:t>
            </a:r>
            <a:endParaRPr lang="en-US" sz="2800" dirty="0"/>
          </a:p>
        </p:txBody>
      </p:sp>
      <p:sp>
        <p:nvSpPr>
          <p:cNvPr id="15" name="Text 11"/>
          <p:cNvSpPr/>
          <p:nvPr/>
        </p:nvSpPr>
        <p:spPr>
          <a:xfrm>
            <a:off x="594360" y="5980176"/>
            <a:ext cx="10058400" cy="548640"/>
          </a:xfrm>
          <a:prstGeom prst="rect">
            <a:avLst/>
          </a:prstGeom>
          <a:noFill/>
          <a:ln/>
        </p:spPr>
        <p:txBody>
          <a:bodyPr wrap="square" lIns="0" tIns="0" rIns="0" bIns="0" rtlCol="0" anchor="ctr"/>
          <a:lstStyle/>
          <a:p>
            <a:pPr marL="0" indent="0">
              <a:buNone/>
            </a:pPr>
            <a:r>
              <a:rPr lang="en-US" sz="1400" dirty="0">
                <a:solidFill>
                  <a:srgbClr val="567077"/>
                </a:solidFill>
                <a:latin typeface="Arial" pitchFamily="34" charset="0"/>
                <a:ea typeface="Arial" pitchFamily="34" charset="-122"/>
                <a:cs typeface="Arial" pitchFamily="34" charset="-120"/>
              </a:rPr>
              <a:t>Validate the workflow. Measure the value.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2135</Words>
  <Application>Microsoft Macintosh PowerPoint</Application>
  <PresentationFormat>Widescreen</PresentationFormat>
  <Paragraphs>131</Paragraphs>
  <Slides>7</Slides>
  <Notes>7</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Team-8</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ParcelCare — From shipment problems to verified resolutions</dc:title>
  <dc:subject>Five-minute pitch and honest demo narrative</dc:subject>
  <dc:creator>ParcelCare · Team-8</dc:creator>
  <cp:lastModifiedBy>Pwint Wai Wai  Tha</cp:lastModifiedBy>
  <cp:revision>1</cp:revision>
  <dcterms:created xsi:type="dcterms:W3CDTF">2026-10-22T16:38:58Z</dcterms:created>
  <dcterms:modified xsi:type="dcterms:W3CDTF">2026-10-22T16:46:37Z</dcterms:modified>
</cp:coreProperties>
</file>